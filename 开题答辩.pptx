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28" r:id="rId3"/>
  </p:sldMasterIdLst>
  <p:notesMasterIdLst>
    <p:notesMasterId r:id="rId5"/>
  </p:notesMasterIdLst>
  <p:sldIdLst>
    <p:sldId id="256" r:id="rId4"/>
    <p:sldId id="257" r:id="rId6"/>
    <p:sldId id="258" r:id="rId7"/>
    <p:sldId id="264" r:id="rId8"/>
    <p:sldId id="261" r:id="rId9"/>
    <p:sldId id="268" r:id="rId10"/>
    <p:sldId id="262" r:id="rId11"/>
    <p:sldId id="274" r:id="rId12"/>
    <p:sldId id="273" r:id="rId13"/>
    <p:sldId id="272" r:id="rId14"/>
    <p:sldId id="281" r:id="rId15"/>
    <p:sldId id="275" r:id="rId16"/>
    <p:sldId id="282" r:id="rId17"/>
    <p:sldId id="263" r:id="rId18"/>
    <p:sldId id="276" r:id="rId19"/>
    <p:sldId id="26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E1A30"/>
    <a:srgbClr val="4F5866"/>
    <a:srgbClr val="303B4B"/>
    <a:srgbClr val="7F7F7F"/>
    <a:srgbClr val="282F39"/>
    <a:srgbClr val="ED1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360" y="86"/>
      </p:cViewPr>
      <p:guideLst>
        <p:guide orient="horz" pos="2139"/>
        <p:guide pos="38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452B0965-72DB-4FAA-95D4-FB0886A0F7B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58D0F15C-308C-4A8E-9FF3-B0DBCC38D0F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0832-B4B8-42AF-9F4B-4216D0CD640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90B8-C10D-4CF3-BB78-D8753CAA421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0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.xml"/><Relationship Id="rId69" Type="http://schemas.openxmlformats.org/officeDocument/2006/relationships/slideLayout" Target="../slideLayouts/slideLayout69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14160832-B4B8-42AF-9F4B-4216D0CD640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9EB090B8-C10D-4CF3-BB78-D8753CAA4217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</p:sldLayoutIdLst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74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74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4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74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4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7" Type="http://schemas.openxmlformats.org/officeDocument/2006/relationships/notesSlide" Target="../notesSlides/notesSlide8.xml"/><Relationship Id="rId36" Type="http://schemas.openxmlformats.org/officeDocument/2006/relationships/slideLayout" Target="../slideLayouts/slideLayout74.xml"/><Relationship Id="rId35" Type="http://schemas.openxmlformats.org/officeDocument/2006/relationships/tags" Target="../tags/tag82.xml"/><Relationship Id="rId34" Type="http://schemas.openxmlformats.org/officeDocument/2006/relationships/tags" Target="../tags/tag81.xml"/><Relationship Id="rId33" Type="http://schemas.openxmlformats.org/officeDocument/2006/relationships/tags" Target="../tags/tag80.xml"/><Relationship Id="rId32" Type="http://schemas.openxmlformats.org/officeDocument/2006/relationships/tags" Target="../tags/tag79.xml"/><Relationship Id="rId31" Type="http://schemas.openxmlformats.org/officeDocument/2006/relationships/tags" Target="../tags/tag78.xml"/><Relationship Id="rId30" Type="http://schemas.openxmlformats.org/officeDocument/2006/relationships/tags" Target="../tags/tag77.xml"/><Relationship Id="rId3" Type="http://schemas.openxmlformats.org/officeDocument/2006/relationships/tags" Target="../tags/tag50.xml"/><Relationship Id="rId29" Type="http://schemas.openxmlformats.org/officeDocument/2006/relationships/tags" Target="../tags/tag76.xml"/><Relationship Id="rId28" Type="http://schemas.openxmlformats.org/officeDocument/2006/relationships/tags" Target="../tags/tag75.xml"/><Relationship Id="rId27" Type="http://schemas.openxmlformats.org/officeDocument/2006/relationships/tags" Target="../tags/tag74.xml"/><Relationship Id="rId26" Type="http://schemas.openxmlformats.org/officeDocument/2006/relationships/tags" Target="../tags/tag73.xml"/><Relationship Id="rId25" Type="http://schemas.openxmlformats.org/officeDocument/2006/relationships/tags" Target="../tags/tag72.xml"/><Relationship Id="rId24" Type="http://schemas.openxmlformats.org/officeDocument/2006/relationships/tags" Target="../tags/tag71.xml"/><Relationship Id="rId23" Type="http://schemas.openxmlformats.org/officeDocument/2006/relationships/tags" Target="../tags/tag70.xml"/><Relationship Id="rId22" Type="http://schemas.openxmlformats.org/officeDocument/2006/relationships/tags" Target="../tags/tag69.xml"/><Relationship Id="rId21" Type="http://schemas.openxmlformats.org/officeDocument/2006/relationships/tags" Target="../tags/tag68.xml"/><Relationship Id="rId20" Type="http://schemas.openxmlformats.org/officeDocument/2006/relationships/tags" Target="../tags/tag67.xml"/><Relationship Id="rId2" Type="http://schemas.openxmlformats.org/officeDocument/2006/relationships/tags" Target="../tags/tag49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4.xml"/><Relationship Id="rId2" Type="http://schemas.openxmlformats.org/officeDocument/2006/relationships/tags" Target="../tags/tag8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4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4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4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4.xml"/><Relationship Id="rId2" Type="http://schemas.openxmlformats.org/officeDocument/2006/relationships/tags" Target="../tags/tag93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4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/>
          <p:cNvSpPr/>
          <p:nvPr/>
        </p:nvSpPr>
        <p:spPr>
          <a:xfrm>
            <a:off x="4688114" y="2637063"/>
            <a:ext cx="7503886" cy="4220937"/>
          </a:xfrm>
          <a:custGeom>
            <a:avLst/>
            <a:gdLst>
              <a:gd name="connsiteX0" fmla="*/ 6096000 w 6096000"/>
              <a:gd name="connsiteY0" fmla="*/ 0 h 3429001"/>
              <a:gd name="connsiteX1" fmla="*/ 6096000 w 6096000"/>
              <a:gd name="connsiteY1" fmla="*/ 3429001 h 3429001"/>
              <a:gd name="connsiteX2" fmla="*/ 0 w 6096000"/>
              <a:gd name="connsiteY2" fmla="*/ 3429001 h 3429001"/>
              <a:gd name="connsiteX3" fmla="*/ 0 w 6096000"/>
              <a:gd name="connsiteY3" fmla="*/ 3429000 h 3429001"/>
              <a:gd name="connsiteX4" fmla="*/ 2667000 w 6096000"/>
              <a:gd name="connsiteY4" fmla="*/ 3429000 h 3429001"/>
              <a:gd name="connsiteX5" fmla="*/ 6096000 w 6096000"/>
              <a:gd name="connsiteY5" fmla="*/ 0 h 34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3429001">
                <a:moveTo>
                  <a:pt x="6096000" y="0"/>
                </a:moveTo>
                <a:lnTo>
                  <a:pt x="6096000" y="3429001"/>
                </a:lnTo>
                <a:lnTo>
                  <a:pt x="0" y="3429001"/>
                </a:lnTo>
                <a:lnTo>
                  <a:pt x="0" y="3429000"/>
                </a:lnTo>
                <a:lnTo>
                  <a:pt x="2667000" y="3429000"/>
                </a:lnTo>
                <a:cubicBezTo>
                  <a:pt x="4560784" y="3429000"/>
                  <a:pt x="6096000" y="1893784"/>
                  <a:pt x="6096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-1" y="0"/>
            <a:ext cx="7982857" cy="8980714"/>
          </a:xfrm>
          <a:custGeom>
            <a:avLst/>
            <a:gdLst>
              <a:gd name="connsiteX0" fmla="*/ 0 w 6096000"/>
              <a:gd name="connsiteY0" fmla="*/ 6857999 h 6858000"/>
              <a:gd name="connsiteX1" fmla="*/ 6096000 w 6096000"/>
              <a:gd name="connsiteY1" fmla="*/ 6857999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5" fmla="*/ 3428959 w 6096000"/>
              <a:gd name="connsiteY5" fmla="*/ 0 h 6858000"/>
              <a:gd name="connsiteX6" fmla="*/ 3252544 w 6096000"/>
              <a:gd name="connsiteY6" fmla="*/ 4461 h 6858000"/>
              <a:gd name="connsiteX7" fmla="*/ 17703 w 6096000"/>
              <a:gd name="connsiteY7" fmla="*/ 3078404 h 6858000"/>
              <a:gd name="connsiteX8" fmla="*/ 0 w 6096000"/>
              <a:gd name="connsiteY8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6857999"/>
                </a:moveTo>
                <a:lnTo>
                  <a:pt x="6096000" y="6857999"/>
                </a:lnTo>
                <a:lnTo>
                  <a:pt x="6096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0" y="1"/>
            <a:ext cx="12192000" cy="6858000"/>
          </a:xfrm>
          <a:custGeom>
            <a:avLst/>
            <a:gdLst>
              <a:gd name="connsiteX0" fmla="*/ 12192000 w 12192000"/>
              <a:gd name="connsiteY0" fmla="*/ 3428999 h 6858000"/>
              <a:gd name="connsiteX1" fmla="*/ 12192000 w 12192000"/>
              <a:gd name="connsiteY1" fmla="*/ 6858000 h 6858000"/>
              <a:gd name="connsiteX2" fmla="*/ 0 w 12192000"/>
              <a:gd name="connsiteY2" fmla="*/ 6858000 h 6858000"/>
              <a:gd name="connsiteX3" fmla="*/ 0 w 12192000"/>
              <a:gd name="connsiteY3" fmla="*/ 6857999 h 6858000"/>
              <a:gd name="connsiteX4" fmla="*/ 8763000 w 12192000"/>
              <a:gd name="connsiteY4" fmla="*/ 6857999 h 6858000"/>
              <a:gd name="connsiteX5" fmla="*/ 12192000 w 12192000"/>
              <a:gd name="connsiteY5" fmla="*/ 3428999 h 6858000"/>
              <a:gd name="connsiteX6" fmla="*/ 0 w 12192000"/>
              <a:gd name="connsiteY6" fmla="*/ 0 h 6858000"/>
              <a:gd name="connsiteX7" fmla="*/ 3428959 w 12192000"/>
              <a:gd name="connsiteY7" fmla="*/ 0 h 6858000"/>
              <a:gd name="connsiteX8" fmla="*/ 3252544 w 12192000"/>
              <a:gd name="connsiteY8" fmla="*/ 4461 h 6858000"/>
              <a:gd name="connsiteX9" fmla="*/ 17703 w 12192000"/>
              <a:gd name="connsiteY9" fmla="*/ 3078404 h 6858000"/>
              <a:gd name="connsiteX10" fmla="*/ 0 w 12192000"/>
              <a:gd name="connsiteY10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12192000" y="3428999"/>
                </a:moveTo>
                <a:lnTo>
                  <a:pt x="12192000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8763000" y="6857999"/>
                </a:lnTo>
                <a:cubicBezTo>
                  <a:pt x="10656784" y="6857999"/>
                  <a:pt x="12192000" y="5322783"/>
                  <a:pt x="12192000" y="3428999"/>
                </a:cubicBez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rgbClr val="BE1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" y="1"/>
            <a:ext cx="2903620" cy="3266572"/>
          </a:xfrm>
          <a:custGeom>
            <a:avLst/>
            <a:gdLst>
              <a:gd name="connsiteX0" fmla="*/ 0 w 6096000"/>
              <a:gd name="connsiteY0" fmla="*/ 6857999 h 6858000"/>
              <a:gd name="connsiteX1" fmla="*/ 6096000 w 6096000"/>
              <a:gd name="connsiteY1" fmla="*/ 6857999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5" fmla="*/ 3428959 w 6096000"/>
              <a:gd name="connsiteY5" fmla="*/ 0 h 6858000"/>
              <a:gd name="connsiteX6" fmla="*/ 3252544 w 6096000"/>
              <a:gd name="connsiteY6" fmla="*/ 4461 h 6858000"/>
              <a:gd name="connsiteX7" fmla="*/ 17703 w 6096000"/>
              <a:gd name="connsiteY7" fmla="*/ 3078404 h 6858000"/>
              <a:gd name="connsiteX8" fmla="*/ 0 w 6096000"/>
              <a:gd name="connsiteY8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6857999"/>
                </a:moveTo>
                <a:lnTo>
                  <a:pt x="6096000" y="6857999"/>
                </a:lnTo>
                <a:lnTo>
                  <a:pt x="6096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rgbClr val="303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任意多边形: 形状 20"/>
          <p:cNvSpPr/>
          <p:nvPr/>
        </p:nvSpPr>
        <p:spPr>
          <a:xfrm rot="5400000" flipH="1">
            <a:off x="9222427" y="3888427"/>
            <a:ext cx="2794892" cy="3144253"/>
          </a:xfrm>
          <a:custGeom>
            <a:avLst/>
            <a:gdLst>
              <a:gd name="connsiteX0" fmla="*/ 0 w 6096000"/>
              <a:gd name="connsiteY0" fmla="*/ 6857999 h 6858000"/>
              <a:gd name="connsiteX1" fmla="*/ 6096000 w 6096000"/>
              <a:gd name="connsiteY1" fmla="*/ 6857999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5" fmla="*/ 3428959 w 6096000"/>
              <a:gd name="connsiteY5" fmla="*/ 0 h 6858000"/>
              <a:gd name="connsiteX6" fmla="*/ 3252544 w 6096000"/>
              <a:gd name="connsiteY6" fmla="*/ 4461 h 6858000"/>
              <a:gd name="connsiteX7" fmla="*/ 17703 w 6096000"/>
              <a:gd name="connsiteY7" fmla="*/ 3078404 h 6858000"/>
              <a:gd name="connsiteX8" fmla="*/ 0 w 6096000"/>
              <a:gd name="connsiteY8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6857999"/>
                </a:moveTo>
                <a:lnTo>
                  <a:pt x="6096000" y="6857999"/>
                </a:lnTo>
                <a:lnTo>
                  <a:pt x="6096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rgbClr val="282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532200" y="-695992"/>
            <a:ext cx="1785325" cy="541247"/>
            <a:chOff x="5532200" y="-695992"/>
            <a:chExt cx="1785325" cy="541247"/>
          </a:xfrm>
        </p:grpSpPr>
        <p:grpSp>
          <p:nvGrpSpPr>
            <p:cNvPr id="6" name="组合 5"/>
            <p:cNvGrpSpPr/>
            <p:nvPr/>
          </p:nvGrpSpPr>
          <p:grpSpPr>
            <a:xfrm>
              <a:off x="5532200" y="-695992"/>
              <a:ext cx="1127599" cy="541247"/>
              <a:chOff x="6141343" y="952029"/>
              <a:chExt cx="1800200" cy="864096"/>
            </a:xfrm>
          </p:grpSpPr>
          <p:sp>
            <p:nvSpPr>
              <p:cNvPr id="7" name="椭圆 6"/>
              <p:cNvSpPr/>
              <p:nvPr/>
            </p:nvSpPr>
            <p:spPr bwMode="auto">
              <a:xfrm>
                <a:off x="6141343" y="952029"/>
                <a:ext cx="864096" cy="864096"/>
              </a:xfrm>
              <a:prstGeom prst="ellipse">
                <a:avLst/>
              </a:prstGeom>
              <a:solidFill>
                <a:srgbClr val="BE1A30"/>
              </a:solidFill>
              <a:ln w="0">
                <a:noFill/>
                <a:prstDash val="solid"/>
                <a:miter lim="800000"/>
              </a:ln>
            </p:spPr>
            <p:txBody>
              <a:bodyPr vert="horz" wrap="square" lIns="128580" tIns="64290" rIns="128580" bIns="64290" numCol="1" rtlCol="0" anchor="t" anchorCtr="0" compatLnSpc="1"/>
              <a:lstStyle/>
              <a:p>
                <a:pPr algn="l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 bwMode="auto">
              <a:xfrm>
                <a:off x="7077447" y="952029"/>
                <a:ext cx="864096" cy="864096"/>
              </a:xfrm>
              <a:prstGeom prst="ellipse">
                <a:avLst/>
              </a:prstGeom>
              <a:solidFill>
                <a:srgbClr val="303B4B"/>
              </a:solidFill>
              <a:ln w="0">
                <a:noFill/>
                <a:prstDash val="solid"/>
                <a:miter lim="800000"/>
              </a:ln>
            </p:spPr>
            <p:txBody>
              <a:bodyPr vert="horz" wrap="square" lIns="128580" tIns="64290" rIns="128580" bIns="64290" numCol="1" rtlCol="0" anchor="t" anchorCtr="0" compatLnSpc="1"/>
              <a:lstStyle/>
              <a:p>
                <a:pPr algn="l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23" name="椭圆 22"/>
            <p:cNvSpPr/>
            <p:nvPr/>
          </p:nvSpPr>
          <p:spPr bwMode="auto">
            <a:xfrm>
              <a:off x="6776277" y="-695992"/>
              <a:ext cx="541248" cy="541247"/>
            </a:xfrm>
            <a:prstGeom prst="ellipse">
              <a:avLst/>
            </a:prstGeom>
            <a:solidFill>
              <a:srgbClr val="7F7F7F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algn="l"/>
              <a:endParaRPr lang="zh-CN" altLang="en-US" dirty="0">
                <a:cs typeface="+mn-ea"/>
                <a:sym typeface="+mn-lt"/>
              </a:endParaRPr>
            </a:p>
          </p:txBody>
        </p:sp>
      </p:grpSp>
      <p:pic>
        <p:nvPicPr>
          <p:cNvPr id="34" name="图片 33" descr="徽标&#10;&#10;描述已自动生成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4" t="19931" r="20018" b="20630"/>
          <a:stretch>
            <a:fillRect/>
          </a:stretch>
        </p:blipFill>
        <p:spPr>
          <a:xfrm>
            <a:off x="0" y="3796031"/>
            <a:ext cx="3080085" cy="2941654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11212396" y="272447"/>
            <a:ext cx="600644" cy="530928"/>
            <a:chOff x="11171589" y="282905"/>
            <a:chExt cx="600644" cy="530928"/>
          </a:xfrm>
          <a:gradFill>
            <a:gsLst>
              <a:gs pos="0">
                <a:srgbClr val="BE1A30"/>
              </a:gs>
              <a:gs pos="100000">
                <a:srgbClr val="BE1A30">
                  <a:alpha val="40000"/>
                </a:srgbClr>
              </a:gs>
            </a:gsLst>
            <a:lin ang="0" scaled="0"/>
          </a:gradFill>
        </p:grpSpPr>
        <p:grpSp>
          <p:nvGrpSpPr>
            <p:cNvPr id="36" name="组合 35"/>
            <p:cNvGrpSpPr/>
            <p:nvPr/>
          </p:nvGrpSpPr>
          <p:grpSpPr>
            <a:xfrm rot="10800000">
              <a:off x="11651277" y="282905"/>
              <a:ext cx="120956" cy="530928"/>
              <a:chOff x="594567" y="418398"/>
              <a:chExt cx="174172" cy="764517"/>
            </a:xfrm>
            <a:grpFill/>
          </p:grpSpPr>
          <p:sp>
            <p:nvSpPr>
              <p:cNvPr id="45" name="椭圆 44"/>
              <p:cNvSpPr/>
              <p:nvPr/>
            </p:nvSpPr>
            <p:spPr>
              <a:xfrm>
                <a:off x="594567" y="418398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594567" y="716031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94567" y="1008743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 rot="10800000">
              <a:off x="11411433" y="282905"/>
              <a:ext cx="120956" cy="530928"/>
              <a:chOff x="594567" y="418398"/>
              <a:chExt cx="174172" cy="764517"/>
            </a:xfrm>
            <a:grpFill/>
          </p:grpSpPr>
          <p:sp>
            <p:nvSpPr>
              <p:cNvPr id="42" name="椭圆 41"/>
              <p:cNvSpPr/>
              <p:nvPr/>
            </p:nvSpPr>
            <p:spPr>
              <a:xfrm>
                <a:off x="594567" y="418398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594567" y="716031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94567" y="1008743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 rot="10800000">
              <a:off x="11171589" y="282905"/>
              <a:ext cx="120956" cy="530928"/>
              <a:chOff x="594567" y="418398"/>
              <a:chExt cx="174172" cy="764517"/>
            </a:xfrm>
            <a:grpFill/>
          </p:grpSpPr>
          <p:sp>
            <p:nvSpPr>
              <p:cNvPr id="39" name="椭圆 38"/>
              <p:cNvSpPr/>
              <p:nvPr/>
            </p:nvSpPr>
            <p:spPr>
              <a:xfrm>
                <a:off x="594567" y="418398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594567" y="716031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594567" y="1008743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/>
          <p:cNvSpPr txBox="1"/>
          <p:nvPr/>
        </p:nvSpPr>
        <p:spPr>
          <a:xfrm>
            <a:off x="2939244" y="2111337"/>
            <a:ext cx="6313513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zh-CN" altLang="en-US" sz="4800" b="1" dirty="0">
                <a:solidFill>
                  <a:srgbClr val="BE1A30"/>
                </a:solidFill>
                <a:cs typeface="+mn-ea"/>
                <a:sym typeface="+mn-lt"/>
              </a:rPr>
              <a:t>慢性病风险因素分析</a:t>
            </a:r>
            <a:endParaRPr lang="zh-CN" altLang="en-US" sz="4800" b="1" dirty="0">
              <a:solidFill>
                <a:srgbClr val="BE1A30"/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sz="4800" b="1" dirty="0">
                <a:solidFill>
                  <a:srgbClr val="BE1A30"/>
                </a:solidFill>
                <a:cs typeface="+mn-ea"/>
                <a:sym typeface="+mn-lt"/>
              </a:rPr>
              <a:t>与预测模型研究</a:t>
            </a:r>
            <a:endParaRPr lang="zh-CN" altLang="en-US" sz="4800" b="1" dirty="0">
              <a:solidFill>
                <a:srgbClr val="BE1A30"/>
              </a:solidFill>
              <a:cs typeface="+mn-ea"/>
              <a:sym typeface="+mn-lt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3899458" y="4418140"/>
            <a:ext cx="217399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答辩人：</a:t>
            </a:r>
            <a:r>
              <a:rPr lang="zh-CN" b="1" kern="0" dirty="0">
                <a:solidFill>
                  <a:srgbClr val="E6E6E6"/>
                </a:solidFill>
                <a:cs typeface="+mn-ea"/>
                <a:sym typeface="+mn-lt"/>
              </a:rPr>
              <a:t>陈佳豪</a:t>
            </a:r>
            <a:endParaRPr lang="zh-CN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6563648" y="4418140"/>
            <a:ext cx="187200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导师：朱天生</a:t>
            </a:r>
            <a:endParaRPr lang="zh-CN" altLang="en-US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5273930" y="3714212"/>
            <a:ext cx="1629390" cy="531756"/>
            <a:chOff x="4881789" y="4853306"/>
            <a:chExt cx="2286178" cy="550882"/>
          </a:xfrm>
        </p:grpSpPr>
        <p:sp>
          <p:nvSpPr>
            <p:cNvPr id="51" name="矩形: 圆角 50"/>
            <p:cNvSpPr/>
            <p:nvPr/>
          </p:nvSpPr>
          <p:spPr>
            <a:xfrm>
              <a:off x="4881789" y="4853306"/>
              <a:ext cx="2286178" cy="550882"/>
            </a:xfrm>
            <a:prstGeom prst="roundRect">
              <a:avLst>
                <a:gd name="adj" fmla="val 50000"/>
              </a:avLst>
            </a:prstGeom>
            <a:solidFill>
              <a:srgbClr val="BE1A3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tx1">
                  <a:lumMod val="85000"/>
                  <a:lumOff val="15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" name="iṩļïḓè"/>
            <p:cNvSpPr txBox="1"/>
            <p:nvPr/>
          </p:nvSpPr>
          <p:spPr bwMode="auto">
            <a:xfrm>
              <a:off x="4941766" y="4959054"/>
              <a:ext cx="2166224" cy="339386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bg1"/>
                  </a:solidFill>
                  <a:cs typeface="+mn-ea"/>
                  <a:sym typeface="+mn-lt"/>
                </a:rPr>
                <a:t>2026-1-11</a:t>
              </a:r>
              <a:endParaRPr lang="en-US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 animBg="1"/>
      <p:bldP spid="5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532200" y="-695992"/>
            <a:ext cx="1127599" cy="541247"/>
            <a:chOff x="6141343" y="952029"/>
            <a:chExt cx="1800200" cy="864096"/>
          </a:xfrm>
        </p:grpSpPr>
        <p:sp>
          <p:nvSpPr>
            <p:cNvPr id="7" name="椭圆 6"/>
            <p:cNvSpPr/>
            <p:nvPr/>
          </p:nvSpPr>
          <p:spPr bwMode="auto">
            <a:xfrm>
              <a:off x="6141343" y="952029"/>
              <a:ext cx="864096" cy="864096"/>
            </a:xfrm>
            <a:prstGeom prst="ellipse">
              <a:avLst/>
            </a:prstGeom>
            <a:solidFill>
              <a:srgbClr val="ED1B34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7077447" y="952029"/>
              <a:ext cx="864096" cy="864096"/>
            </a:xfrm>
            <a:prstGeom prst="ellipse">
              <a:avLst/>
            </a:prstGeom>
            <a:solidFill>
              <a:srgbClr val="282F39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1" y="0"/>
            <a:ext cx="10539664" cy="11857122"/>
            <a:chOff x="-1" y="0"/>
            <a:chExt cx="7982857" cy="8980714"/>
          </a:xfrm>
        </p:grpSpPr>
        <p:sp>
          <p:nvSpPr>
            <p:cNvPr id="17" name="任意多边形: 形状 16"/>
            <p:cNvSpPr/>
            <p:nvPr/>
          </p:nvSpPr>
          <p:spPr>
            <a:xfrm>
              <a:off x="-1" y="0"/>
              <a:ext cx="7982857" cy="8980714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1"/>
              <a:ext cx="6096000" cy="6858000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" y="1"/>
              <a:ext cx="2903620" cy="3266572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215" y="3796031"/>
            <a:ext cx="2941654" cy="2941654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256687" y="909588"/>
            <a:ext cx="3678626" cy="1015663"/>
            <a:chOff x="1163726" y="935952"/>
            <a:chExt cx="3678626" cy="1015663"/>
          </a:xfrm>
        </p:grpSpPr>
        <p:sp>
          <p:nvSpPr>
            <p:cNvPr id="20" name="文本框 20"/>
            <p:cNvSpPr txBox="1">
              <a:spLocks noChangeArrowheads="1"/>
            </p:cNvSpPr>
            <p:nvPr/>
          </p:nvSpPr>
          <p:spPr bwMode="auto">
            <a:xfrm>
              <a:off x="1163726" y="935952"/>
              <a:ext cx="2276857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20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6000" b="1" dirty="0">
                  <a:solidFill>
                    <a:srgbClr val="BE1A30"/>
                  </a:solidFill>
                  <a:latin typeface="+mn-lt"/>
                  <a:ea typeface="+mn-ea"/>
                  <a:cs typeface="+mn-ea"/>
                  <a:sym typeface="+mn-lt"/>
                </a:rPr>
                <a:t>目 录</a:t>
              </a:r>
              <a:endParaRPr lang="zh-CN" altLang="en-US" sz="6000" b="1" dirty="0">
                <a:solidFill>
                  <a:srgbClr val="BE1A3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文本框 20"/>
            <p:cNvSpPr txBox="1">
              <a:spLocks noChangeArrowheads="1"/>
            </p:cNvSpPr>
            <p:nvPr/>
          </p:nvSpPr>
          <p:spPr bwMode="auto">
            <a:xfrm>
              <a:off x="3163978" y="1400043"/>
              <a:ext cx="167837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20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rgbClr val="BE1A30"/>
                  </a:solidFill>
                  <a:latin typeface="+mn-lt"/>
                  <a:ea typeface="+mn-ea"/>
                  <a:cs typeface="+mn-ea"/>
                  <a:sym typeface="+mn-lt"/>
                </a:rPr>
                <a:t>Content</a:t>
              </a:r>
              <a:endParaRPr lang="zh-CN" altLang="en-US" b="1" dirty="0">
                <a:solidFill>
                  <a:srgbClr val="BE1A3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2"/>
            </p:custDataLst>
          </p:nvPr>
        </p:nvGrpSpPr>
        <p:grpSpPr>
          <a:xfrm>
            <a:off x="3094285" y="2589551"/>
            <a:ext cx="3692577" cy="839449"/>
            <a:chOff x="1948721" y="2458387"/>
            <a:chExt cx="3692577" cy="839449"/>
          </a:xfrm>
        </p:grpSpPr>
        <p:sp>
          <p:nvSpPr>
            <p:cNvPr id="24" name="文本框 2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873919" y="2616501"/>
              <a:ext cx="2767379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121920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lt"/>
                  <a:ea typeface="+mn-ea"/>
                  <a:cs typeface="+mn-ea"/>
                  <a:sym typeface="+mn-lt"/>
                </a:rPr>
                <a:t>研究背景与意义</a:t>
              </a:r>
              <a:endPara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1948721" y="2458387"/>
              <a:ext cx="839449" cy="839449"/>
              <a:chOff x="1948721" y="2458387"/>
              <a:chExt cx="850692" cy="850692"/>
            </a:xfrm>
          </p:grpSpPr>
          <p:sp>
            <p:nvSpPr>
              <p:cNvPr id="26" name="菱形 25"/>
              <p:cNvSpPr/>
              <p:nvPr>
                <p:custDataLst>
                  <p:tags r:id="rId4"/>
                </p:custDataLst>
              </p:nvPr>
            </p:nvSpPr>
            <p:spPr>
              <a:xfrm>
                <a:off x="1948721" y="2458387"/>
                <a:ext cx="850692" cy="850692"/>
              </a:xfrm>
              <a:prstGeom prst="diamond">
                <a:avLst/>
              </a:prstGeom>
              <a:solidFill>
                <a:srgbClr val="303B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5"/>
                </p:custDataLst>
              </p:nvPr>
            </p:nvSpPr>
            <p:spPr>
              <a:xfrm>
                <a:off x="2096933" y="2652901"/>
                <a:ext cx="554270" cy="467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zh-CN" sz="2400" dirty="0">
                    <a:solidFill>
                      <a:prstClr val="white"/>
                    </a:solidFill>
                    <a:cs typeface="+mn-ea"/>
                    <a:sym typeface="+mn-lt"/>
                  </a:rPr>
                  <a:t>01</a:t>
                </a:r>
                <a:endParaRPr lang="zh-CN" altLang="en-US" sz="240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8" name="组合 27"/>
          <p:cNvGrpSpPr/>
          <p:nvPr>
            <p:custDataLst>
              <p:tags r:id="rId6"/>
            </p:custDataLst>
          </p:nvPr>
        </p:nvGrpSpPr>
        <p:grpSpPr>
          <a:xfrm>
            <a:off x="3094285" y="3923676"/>
            <a:ext cx="3692577" cy="839449"/>
            <a:chOff x="1948721" y="2458387"/>
            <a:chExt cx="3692577" cy="839449"/>
          </a:xfrm>
        </p:grpSpPr>
        <p:sp>
          <p:nvSpPr>
            <p:cNvPr id="29" name="文本框 2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73919" y="2616501"/>
              <a:ext cx="2767379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1219200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lt"/>
                  <a:ea typeface="+mn-ea"/>
                  <a:cs typeface="+mn-ea"/>
                  <a:sym typeface="+mn-lt"/>
                </a:rPr>
                <a:t>国内外研究现状</a:t>
              </a:r>
              <a:endPara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8721" y="2458387"/>
              <a:ext cx="839449" cy="839449"/>
              <a:chOff x="1948721" y="2458387"/>
              <a:chExt cx="850692" cy="850692"/>
            </a:xfrm>
          </p:grpSpPr>
          <p:sp>
            <p:nvSpPr>
              <p:cNvPr id="31" name="菱形 30"/>
              <p:cNvSpPr/>
              <p:nvPr>
                <p:custDataLst>
                  <p:tags r:id="rId8"/>
                </p:custDataLst>
              </p:nvPr>
            </p:nvSpPr>
            <p:spPr>
              <a:xfrm>
                <a:off x="1948721" y="2458387"/>
                <a:ext cx="850692" cy="850692"/>
              </a:xfrm>
              <a:prstGeom prst="diamond">
                <a:avLst/>
              </a:prstGeom>
              <a:solidFill>
                <a:srgbClr val="BE1A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32" name="矩形 31"/>
              <p:cNvSpPr/>
              <p:nvPr>
                <p:custDataLst>
                  <p:tags r:id="rId9"/>
                </p:custDataLst>
              </p:nvPr>
            </p:nvSpPr>
            <p:spPr>
              <a:xfrm>
                <a:off x="2106680" y="2652901"/>
                <a:ext cx="534777" cy="467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zh-CN" sz="2400" dirty="0">
                    <a:solidFill>
                      <a:prstClr val="white"/>
                    </a:solidFill>
                    <a:cs typeface="+mn-ea"/>
                    <a:sym typeface="+mn-lt"/>
                  </a:rPr>
                  <a:t>02</a:t>
                </a:r>
                <a:endParaRPr lang="zh-CN" altLang="en-US" sz="240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>
            <a:off x="7396462" y="2589551"/>
            <a:ext cx="3692577" cy="839449"/>
            <a:chOff x="1948721" y="2458387"/>
            <a:chExt cx="3692577" cy="839449"/>
          </a:xfrm>
        </p:grpSpPr>
        <p:sp>
          <p:nvSpPr>
            <p:cNvPr id="34" name="文本框 2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873919" y="2616501"/>
              <a:ext cx="2767379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1219200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lt"/>
                  <a:ea typeface="+mn-ea"/>
                  <a:cs typeface="+mn-ea"/>
                  <a:sym typeface="+mn-lt"/>
                </a:rPr>
                <a:t>研究内容与方案</a:t>
              </a:r>
              <a:endPara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948721" y="2458387"/>
              <a:ext cx="839449" cy="839449"/>
              <a:chOff x="1948721" y="2458387"/>
              <a:chExt cx="850692" cy="850692"/>
            </a:xfrm>
          </p:grpSpPr>
          <p:sp>
            <p:nvSpPr>
              <p:cNvPr id="36" name="菱形 35"/>
              <p:cNvSpPr/>
              <p:nvPr>
                <p:custDataLst>
                  <p:tags r:id="rId12"/>
                </p:custDataLst>
              </p:nvPr>
            </p:nvSpPr>
            <p:spPr>
              <a:xfrm>
                <a:off x="1948721" y="2458387"/>
                <a:ext cx="850692" cy="850692"/>
              </a:xfrm>
              <a:prstGeom prst="diamond">
                <a:avLst/>
              </a:prstGeom>
              <a:solidFill>
                <a:srgbClr val="BE1A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37" name="矩形 36"/>
              <p:cNvSpPr/>
              <p:nvPr>
                <p:custDataLst>
                  <p:tags r:id="rId13"/>
                </p:custDataLst>
              </p:nvPr>
            </p:nvSpPr>
            <p:spPr>
              <a:xfrm>
                <a:off x="2106680" y="2652901"/>
                <a:ext cx="534777" cy="467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zh-CN" sz="2400" dirty="0">
                    <a:solidFill>
                      <a:prstClr val="white"/>
                    </a:solidFill>
                    <a:cs typeface="+mn-ea"/>
                    <a:sym typeface="+mn-lt"/>
                  </a:rPr>
                  <a:t>03</a:t>
                </a:r>
                <a:endParaRPr lang="zh-CN" altLang="en-US" sz="240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8" name="组合 37"/>
          <p:cNvGrpSpPr/>
          <p:nvPr>
            <p:custDataLst>
              <p:tags r:id="rId14"/>
            </p:custDataLst>
          </p:nvPr>
        </p:nvGrpSpPr>
        <p:grpSpPr>
          <a:xfrm>
            <a:off x="7396462" y="3923676"/>
            <a:ext cx="4154170" cy="839449"/>
            <a:chOff x="1948721" y="2458387"/>
            <a:chExt cx="4154170" cy="839449"/>
          </a:xfrm>
        </p:grpSpPr>
        <p:sp>
          <p:nvSpPr>
            <p:cNvPr id="39" name="文本框 20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873916" y="2616502"/>
              <a:ext cx="322897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1219200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lt"/>
                  <a:ea typeface="+mn-ea"/>
                  <a:cs typeface="+mn-ea"/>
                  <a:sym typeface="+mn-lt"/>
                </a:rPr>
                <a:t>预期成果与创新点</a:t>
              </a:r>
              <a:endParaRPr lang="zh-CN" altLang="en-US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948721" y="2458387"/>
              <a:ext cx="839449" cy="839449"/>
              <a:chOff x="1948721" y="2458387"/>
              <a:chExt cx="850692" cy="850692"/>
            </a:xfrm>
          </p:grpSpPr>
          <p:sp>
            <p:nvSpPr>
              <p:cNvPr id="41" name="菱形 40"/>
              <p:cNvSpPr/>
              <p:nvPr>
                <p:custDataLst>
                  <p:tags r:id="rId16"/>
                </p:custDataLst>
              </p:nvPr>
            </p:nvSpPr>
            <p:spPr>
              <a:xfrm>
                <a:off x="1948721" y="2458387"/>
                <a:ext cx="850692" cy="850692"/>
              </a:xfrm>
              <a:prstGeom prst="diamond">
                <a:avLst/>
              </a:prstGeom>
              <a:solidFill>
                <a:srgbClr val="303B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42" name="矩形 41"/>
              <p:cNvSpPr/>
              <p:nvPr>
                <p:custDataLst>
                  <p:tags r:id="rId17"/>
                </p:custDataLst>
              </p:nvPr>
            </p:nvSpPr>
            <p:spPr>
              <a:xfrm>
                <a:off x="2106680" y="2652901"/>
                <a:ext cx="534777" cy="467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zh-CN" sz="2400" dirty="0">
                    <a:solidFill>
                      <a:prstClr val="white"/>
                    </a:solidFill>
                    <a:cs typeface="+mn-ea"/>
                    <a:sym typeface="+mn-lt"/>
                  </a:rPr>
                  <a:t>04</a:t>
                </a:r>
                <a:endParaRPr lang="zh-CN" altLang="en-US" sz="240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43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532200" y="-695992"/>
            <a:ext cx="1127599" cy="541247"/>
            <a:chOff x="6141343" y="952029"/>
            <a:chExt cx="1800200" cy="864096"/>
          </a:xfrm>
        </p:grpSpPr>
        <p:sp>
          <p:nvSpPr>
            <p:cNvPr id="7" name="椭圆 6"/>
            <p:cNvSpPr/>
            <p:nvPr/>
          </p:nvSpPr>
          <p:spPr bwMode="auto">
            <a:xfrm>
              <a:off x="6141343" y="952029"/>
              <a:ext cx="864096" cy="864096"/>
            </a:xfrm>
            <a:prstGeom prst="ellipse">
              <a:avLst/>
            </a:prstGeom>
            <a:solidFill>
              <a:srgbClr val="ED1B34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7077447" y="952029"/>
              <a:ext cx="864096" cy="864096"/>
            </a:xfrm>
            <a:prstGeom prst="ellipse">
              <a:avLst/>
            </a:prstGeom>
            <a:solidFill>
              <a:srgbClr val="282F39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 flipH="1" flipV="1">
            <a:off x="1652336" y="-4999122"/>
            <a:ext cx="10539664" cy="11857122"/>
            <a:chOff x="-1" y="0"/>
            <a:chExt cx="7982857" cy="8980714"/>
          </a:xfrm>
        </p:grpSpPr>
        <p:sp>
          <p:nvSpPr>
            <p:cNvPr id="17" name="任意多边形: 形状 16"/>
            <p:cNvSpPr/>
            <p:nvPr/>
          </p:nvSpPr>
          <p:spPr>
            <a:xfrm>
              <a:off x="-1" y="0"/>
              <a:ext cx="7982857" cy="8980714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1"/>
              <a:ext cx="6096000" cy="6858000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ED1B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" y="1"/>
              <a:ext cx="2903620" cy="3266572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5" b="15214"/>
          <a:stretch>
            <a:fillRect/>
          </a:stretch>
        </p:blipFill>
        <p:spPr>
          <a:xfrm>
            <a:off x="197552" y="128338"/>
            <a:ext cx="3507170" cy="2470483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172857" y="1497438"/>
            <a:ext cx="1846286" cy="1621435"/>
            <a:chOff x="5285283" y="1369102"/>
            <a:chExt cx="1846286" cy="1621435"/>
          </a:xfrm>
        </p:grpSpPr>
        <p:sp>
          <p:nvSpPr>
            <p:cNvPr id="12" name="菱形 11"/>
            <p:cNvSpPr/>
            <p:nvPr/>
          </p:nvSpPr>
          <p:spPr>
            <a:xfrm>
              <a:off x="5510134" y="1369102"/>
              <a:ext cx="1621435" cy="1621435"/>
            </a:xfrm>
            <a:prstGeom prst="diamond">
              <a:avLst/>
            </a:prstGeom>
            <a:noFill/>
            <a:ln>
              <a:solidFill>
                <a:srgbClr val="BE1A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sp>
          <p:nvSpPr>
            <p:cNvPr id="13" name="菱形 12"/>
            <p:cNvSpPr/>
            <p:nvPr/>
          </p:nvSpPr>
          <p:spPr>
            <a:xfrm>
              <a:off x="5285283" y="1369102"/>
              <a:ext cx="1621435" cy="1621435"/>
            </a:xfrm>
            <a:prstGeom prst="diamond">
              <a:avLst/>
            </a:pr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590654" y="1671988"/>
              <a:ext cx="1040670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60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6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3721768" y="3366991"/>
            <a:ext cx="4748464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920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8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+mn-lt"/>
                <a:ea typeface="+mn-ea"/>
                <a:cs typeface="+mn-ea"/>
                <a:sym typeface="+mn-lt"/>
              </a:rPr>
              <a:t>研究背景与意义</a:t>
            </a:r>
            <a:endParaRPr lang="zh-CN" altLang="en-US" sz="4800" b="1" kern="0" dirty="0">
              <a:solidFill>
                <a:srgbClr val="BE1A3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71550" cy="1163868"/>
            <a:chOff x="0" y="0"/>
            <a:chExt cx="6116470" cy="7327220"/>
          </a:xfrm>
        </p:grpSpPr>
        <p:sp>
          <p:nvSpPr>
            <p:cNvPr id="3" name="Freeform 22"/>
            <p:cNvSpPr/>
            <p:nvPr/>
          </p:nvSpPr>
          <p:spPr>
            <a:xfrm rot="584957">
              <a:off x="537093" y="591927"/>
              <a:ext cx="4967412" cy="6735293"/>
            </a:xfrm>
            <a:custGeom>
              <a:avLst/>
              <a:gdLst>
                <a:gd name="connsiteX0" fmla="*/ 0 w 4967412"/>
                <a:gd name="connsiteY0" fmla="*/ 0 h 6735293"/>
                <a:gd name="connsiteX1" fmla="*/ 4967412 w 4967412"/>
                <a:gd name="connsiteY1" fmla="*/ 0 h 6735293"/>
                <a:gd name="connsiteX2" fmla="*/ 4555063 w 4967412"/>
                <a:gd name="connsiteY2" fmla="*/ 128938 h 6735293"/>
                <a:gd name="connsiteX3" fmla="*/ 101259 w 4967412"/>
                <a:gd name="connsiteY3" fmla="*/ 6262544 h 6735293"/>
                <a:gd name="connsiteX4" fmla="*/ 47842 w 4967412"/>
                <a:gd name="connsiteY4" fmla="*/ 6727073 h 6735293"/>
                <a:gd name="connsiteX5" fmla="*/ 0 w 4967412"/>
                <a:gd name="connsiteY5" fmla="*/ 6735293 h 673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7412" h="6735293">
                  <a:moveTo>
                    <a:pt x="0" y="0"/>
                  </a:moveTo>
                  <a:lnTo>
                    <a:pt x="4967412" y="0"/>
                  </a:lnTo>
                  <a:lnTo>
                    <a:pt x="4555063" y="128938"/>
                  </a:lnTo>
                  <a:cubicBezTo>
                    <a:pt x="2271342" y="992714"/>
                    <a:pt x="528975" y="3350710"/>
                    <a:pt x="101259" y="6262544"/>
                  </a:cubicBezTo>
                  <a:lnTo>
                    <a:pt x="47842" y="6727073"/>
                  </a:lnTo>
                  <a:lnTo>
                    <a:pt x="0" y="6735293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21"/>
            <p:cNvSpPr/>
            <p:nvPr/>
          </p:nvSpPr>
          <p:spPr>
            <a:xfrm>
              <a:off x="0" y="0"/>
              <a:ext cx="6116470" cy="6858000"/>
            </a:xfrm>
            <a:custGeom>
              <a:avLst/>
              <a:gdLst>
                <a:gd name="connsiteX0" fmla="*/ 0 w 6116470"/>
                <a:gd name="connsiteY0" fmla="*/ 0 h 6858000"/>
                <a:gd name="connsiteX1" fmla="*/ 6116470 w 6116470"/>
                <a:gd name="connsiteY1" fmla="*/ 0 h 6858000"/>
                <a:gd name="connsiteX2" fmla="*/ 5608736 w 6116470"/>
                <a:gd name="connsiteY2" fmla="*/ 130556 h 6858000"/>
                <a:gd name="connsiteX3" fmla="*/ 77448 w 6116470"/>
                <a:gd name="connsiteY3" fmla="*/ 6637800 h 6858000"/>
                <a:gd name="connsiteX4" fmla="*/ 50872 w 6116470"/>
                <a:gd name="connsiteY4" fmla="*/ 6858000 h 6858000"/>
                <a:gd name="connsiteX5" fmla="*/ 0 w 6116470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6470" h="6858000">
                  <a:moveTo>
                    <a:pt x="0" y="0"/>
                  </a:moveTo>
                  <a:lnTo>
                    <a:pt x="6116470" y="0"/>
                  </a:lnTo>
                  <a:lnTo>
                    <a:pt x="5608736" y="130556"/>
                  </a:lnTo>
                  <a:cubicBezTo>
                    <a:pt x="2703014" y="1034325"/>
                    <a:pt x="509051" y="3553609"/>
                    <a:pt x="77448" y="6637800"/>
                  </a:cubicBezTo>
                  <a:lnTo>
                    <a:pt x="508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679" y="261579"/>
            <a:ext cx="3332174" cy="7207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162552" tIns="81276" rIns="162552" bIns="81276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533" normalizeH="0" baseline="0" noProof="0" dirty="0">
                <a:ln>
                  <a:noFill/>
                </a:ln>
                <a:solidFill>
                  <a:srgbClr val="BE1A30"/>
                </a:solidFill>
                <a:effectLst/>
                <a:uLnTx/>
                <a:uFillTx/>
                <a:cs typeface="+mn-ea"/>
                <a:sym typeface="+mn-lt"/>
              </a:rPr>
              <a:t>研究背景与意义</a:t>
            </a:r>
            <a:endParaRPr kumimoji="0" lang="zh-CN" altLang="en-US" sz="2800" b="1" i="0" u="none" strike="noStrike" kern="0" cap="none" spc="533" normalizeH="0" baseline="0" noProof="0" dirty="0">
              <a:ln>
                <a:noFill/>
              </a:ln>
              <a:solidFill>
                <a:srgbClr val="BE1A3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594995" y="1291590"/>
            <a:ext cx="3196590" cy="4376420"/>
          </a:xfrm>
          <a:prstGeom prst="roundRect">
            <a:avLst>
              <a:gd name="adj" fmla="val 362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26" name="标题 1"/>
          <p:cNvCxnSpPr/>
          <p:nvPr>
            <p:custDataLst>
              <p:tags r:id="rId2"/>
            </p:custDataLst>
          </p:nvPr>
        </p:nvCxnSpPr>
        <p:spPr>
          <a:xfrm>
            <a:off x="987297" y="2391603"/>
            <a:ext cx="2408970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596265" y="1286510"/>
            <a:ext cx="3157855" cy="1041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现实挑战：</a:t>
            </a:r>
            <a:b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慢性病成为主要健康威胁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2650" y="2562225"/>
            <a:ext cx="266636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双重压力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：老龄化加速与生活方式剧变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首要威胁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：慢性病成为致死与致残的主要病因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新常态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：多病共存成为普遍挑战，极大增加诊疗负担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"/>
          <p:cNvSpPr txBox="1"/>
          <p:nvPr>
            <p:custDataLst>
              <p:tags r:id="rId4"/>
            </p:custDataLst>
          </p:nvPr>
        </p:nvSpPr>
        <p:spPr>
          <a:xfrm>
            <a:off x="4597400" y="1291590"/>
            <a:ext cx="3196590" cy="4376420"/>
          </a:xfrm>
          <a:prstGeom prst="roundRect">
            <a:avLst>
              <a:gd name="adj" fmla="val 362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14" name="标题 1"/>
          <p:cNvCxnSpPr/>
          <p:nvPr>
            <p:custDataLst>
              <p:tags r:id="rId5"/>
            </p:custDataLst>
          </p:nvPr>
        </p:nvCxnSpPr>
        <p:spPr>
          <a:xfrm>
            <a:off x="4989702" y="2391603"/>
            <a:ext cx="2408970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4551680" y="1286510"/>
            <a:ext cx="3348355" cy="1041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技术瓶颈：</a:t>
            </a:r>
            <a:b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现有风险评估模式的局限性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98035" y="2562225"/>
            <a:ext cx="310324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成本高昂：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依赖影像、基因等昂贵检查，难以普惠。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视角单一：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单病种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预测模型，无法应对普遍的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共病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现状。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需求缺口：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缺乏基于常规体检指标的高效、经济、多病种综合预警工具。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8468360" y="1291590"/>
            <a:ext cx="3196590" cy="4376420"/>
          </a:xfrm>
          <a:prstGeom prst="roundRect">
            <a:avLst>
              <a:gd name="adj" fmla="val 362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18" name="标题 1"/>
          <p:cNvCxnSpPr/>
          <p:nvPr>
            <p:custDataLst>
              <p:tags r:id="rId8"/>
            </p:custDataLst>
          </p:nvPr>
        </p:nvCxnSpPr>
        <p:spPr>
          <a:xfrm>
            <a:off x="8860662" y="2391603"/>
            <a:ext cx="2408970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8422640" y="1286510"/>
            <a:ext cx="3348355" cy="1041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研究目的：</a:t>
            </a:r>
            <a:b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构建多病种智能预测模型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46135" y="2562225"/>
            <a:ext cx="331089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验证前沿指标：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对国际前沿的复合指标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糖脂代谢七因子（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GLM7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）进行跨队列系统性评估。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构建智能模型：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融合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GLM7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与机器学习算法，开发能同步预测多种慢性病及其共病风险的综合模型。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5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532200" y="-695992"/>
            <a:ext cx="1127599" cy="541247"/>
            <a:chOff x="6141343" y="952029"/>
            <a:chExt cx="1800200" cy="864096"/>
          </a:xfrm>
        </p:grpSpPr>
        <p:sp>
          <p:nvSpPr>
            <p:cNvPr id="7" name="椭圆 6"/>
            <p:cNvSpPr/>
            <p:nvPr/>
          </p:nvSpPr>
          <p:spPr bwMode="auto">
            <a:xfrm>
              <a:off x="6141343" y="952029"/>
              <a:ext cx="864096" cy="864096"/>
            </a:xfrm>
            <a:prstGeom prst="ellipse">
              <a:avLst/>
            </a:prstGeom>
            <a:solidFill>
              <a:srgbClr val="ED1B34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7077447" y="952029"/>
              <a:ext cx="864096" cy="864096"/>
            </a:xfrm>
            <a:prstGeom prst="ellipse">
              <a:avLst/>
            </a:prstGeom>
            <a:solidFill>
              <a:srgbClr val="282F39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 flipH="1" flipV="1">
            <a:off x="1652336" y="-4999122"/>
            <a:ext cx="10539664" cy="11857122"/>
            <a:chOff x="-1" y="0"/>
            <a:chExt cx="7982857" cy="8980714"/>
          </a:xfrm>
        </p:grpSpPr>
        <p:sp>
          <p:nvSpPr>
            <p:cNvPr id="17" name="任意多边形: 形状 16"/>
            <p:cNvSpPr/>
            <p:nvPr/>
          </p:nvSpPr>
          <p:spPr>
            <a:xfrm>
              <a:off x="-1" y="0"/>
              <a:ext cx="7982857" cy="8980714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1"/>
              <a:ext cx="6096000" cy="6858000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ED1B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" y="1"/>
              <a:ext cx="2903620" cy="3266572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5" b="15214"/>
          <a:stretch>
            <a:fillRect/>
          </a:stretch>
        </p:blipFill>
        <p:spPr>
          <a:xfrm>
            <a:off x="197552" y="128338"/>
            <a:ext cx="3507170" cy="2470483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172857" y="1497438"/>
            <a:ext cx="1846286" cy="1621435"/>
            <a:chOff x="5285283" y="1369102"/>
            <a:chExt cx="1846286" cy="1621435"/>
          </a:xfrm>
        </p:grpSpPr>
        <p:sp>
          <p:nvSpPr>
            <p:cNvPr id="12" name="菱形 11"/>
            <p:cNvSpPr/>
            <p:nvPr/>
          </p:nvSpPr>
          <p:spPr>
            <a:xfrm>
              <a:off x="5510134" y="1369102"/>
              <a:ext cx="1621435" cy="1621435"/>
            </a:xfrm>
            <a:prstGeom prst="diamond">
              <a:avLst/>
            </a:prstGeom>
            <a:noFill/>
            <a:ln>
              <a:solidFill>
                <a:srgbClr val="BE1A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菱形 12"/>
            <p:cNvSpPr/>
            <p:nvPr/>
          </p:nvSpPr>
          <p:spPr>
            <a:xfrm>
              <a:off x="5285283" y="1369102"/>
              <a:ext cx="1621435" cy="1621435"/>
            </a:xfrm>
            <a:prstGeom prst="diamond">
              <a:avLst/>
            </a:pr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590654" y="1671988"/>
              <a:ext cx="1040670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3721768" y="3355561"/>
            <a:ext cx="4748464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4800" b="1" kern="0">
                <a:solidFill>
                  <a:srgbClr val="BE1A3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国内外研究现状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71550" cy="1163868"/>
            <a:chOff x="0" y="0"/>
            <a:chExt cx="6116470" cy="7327220"/>
          </a:xfrm>
        </p:grpSpPr>
        <p:sp>
          <p:nvSpPr>
            <p:cNvPr id="3" name="Freeform 22"/>
            <p:cNvSpPr/>
            <p:nvPr/>
          </p:nvSpPr>
          <p:spPr>
            <a:xfrm rot="584957">
              <a:off x="537093" y="591927"/>
              <a:ext cx="4967412" cy="6735293"/>
            </a:xfrm>
            <a:custGeom>
              <a:avLst/>
              <a:gdLst>
                <a:gd name="connsiteX0" fmla="*/ 0 w 4967412"/>
                <a:gd name="connsiteY0" fmla="*/ 0 h 6735293"/>
                <a:gd name="connsiteX1" fmla="*/ 4967412 w 4967412"/>
                <a:gd name="connsiteY1" fmla="*/ 0 h 6735293"/>
                <a:gd name="connsiteX2" fmla="*/ 4555063 w 4967412"/>
                <a:gd name="connsiteY2" fmla="*/ 128938 h 6735293"/>
                <a:gd name="connsiteX3" fmla="*/ 101259 w 4967412"/>
                <a:gd name="connsiteY3" fmla="*/ 6262544 h 6735293"/>
                <a:gd name="connsiteX4" fmla="*/ 47842 w 4967412"/>
                <a:gd name="connsiteY4" fmla="*/ 6727073 h 6735293"/>
                <a:gd name="connsiteX5" fmla="*/ 0 w 4967412"/>
                <a:gd name="connsiteY5" fmla="*/ 6735293 h 673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7412" h="6735293">
                  <a:moveTo>
                    <a:pt x="0" y="0"/>
                  </a:moveTo>
                  <a:lnTo>
                    <a:pt x="4967412" y="0"/>
                  </a:lnTo>
                  <a:lnTo>
                    <a:pt x="4555063" y="128938"/>
                  </a:lnTo>
                  <a:cubicBezTo>
                    <a:pt x="2271342" y="992714"/>
                    <a:pt x="528975" y="3350710"/>
                    <a:pt x="101259" y="6262544"/>
                  </a:cubicBezTo>
                  <a:lnTo>
                    <a:pt x="47842" y="6727073"/>
                  </a:lnTo>
                  <a:lnTo>
                    <a:pt x="0" y="6735293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21"/>
            <p:cNvSpPr/>
            <p:nvPr/>
          </p:nvSpPr>
          <p:spPr>
            <a:xfrm>
              <a:off x="0" y="0"/>
              <a:ext cx="6116470" cy="6858000"/>
            </a:xfrm>
            <a:custGeom>
              <a:avLst/>
              <a:gdLst>
                <a:gd name="connsiteX0" fmla="*/ 0 w 6116470"/>
                <a:gd name="connsiteY0" fmla="*/ 0 h 6858000"/>
                <a:gd name="connsiteX1" fmla="*/ 6116470 w 6116470"/>
                <a:gd name="connsiteY1" fmla="*/ 0 h 6858000"/>
                <a:gd name="connsiteX2" fmla="*/ 5608736 w 6116470"/>
                <a:gd name="connsiteY2" fmla="*/ 130556 h 6858000"/>
                <a:gd name="connsiteX3" fmla="*/ 77448 w 6116470"/>
                <a:gd name="connsiteY3" fmla="*/ 6637800 h 6858000"/>
                <a:gd name="connsiteX4" fmla="*/ 50872 w 6116470"/>
                <a:gd name="connsiteY4" fmla="*/ 6858000 h 6858000"/>
                <a:gd name="connsiteX5" fmla="*/ 0 w 6116470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6470" h="6858000">
                  <a:moveTo>
                    <a:pt x="0" y="0"/>
                  </a:moveTo>
                  <a:lnTo>
                    <a:pt x="6116470" y="0"/>
                  </a:lnTo>
                  <a:lnTo>
                    <a:pt x="5608736" y="130556"/>
                  </a:lnTo>
                  <a:cubicBezTo>
                    <a:pt x="2703014" y="1034325"/>
                    <a:pt x="509051" y="3553609"/>
                    <a:pt x="77448" y="6637800"/>
                  </a:cubicBezTo>
                  <a:lnTo>
                    <a:pt x="508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679" y="261579"/>
            <a:ext cx="3332174" cy="7207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162552" tIns="81276" rIns="162552" bIns="81276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533" normalizeH="0" baseline="0" noProof="0" dirty="0">
                <a:ln>
                  <a:noFill/>
                </a:ln>
                <a:solidFill>
                  <a:srgbClr val="BE1A30"/>
                </a:solidFill>
                <a:effectLst/>
                <a:uLnTx/>
                <a:uFillTx/>
                <a:cs typeface="+mn-ea"/>
                <a:sym typeface="+mn-lt"/>
              </a:rPr>
              <a:t>国内外研究现状</a:t>
            </a:r>
            <a:endParaRPr kumimoji="0" lang="zh-CN" altLang="en-US" sz="2800" b="1" i="0" u="none" strike="noStrike" kern="0" cap="none" spc="533" normalizeH="0" baseline="0" noProof="0" dirty="0">
              <a:ln>
                <a:noFill/>
              </a:ln>
              <a:solidFill>
                <a:srgbClr val="BE1A3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标题 1"/>
          <p:cNvSpPr txBox="1"/>
          <p:nvPr>
            <p:custDataLst>
              <p:tags r:id="rId1"/>
            </p:custDataLst>
          </p:nvPr>
        </p:nvSpPr>
        <p:spPr>
          <a:xfrm>
            <a:off x="594995" y="1291590"/>
            <a:ext cx="3196590" cy="4376420"/>
          </a:xfrm>
          <a:prstGeom prst="roundRect">
            <a:avLst>
              <a:gd name="adj" fmla="val 362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43" name="标题 1"/>
          <p:cNvCxnSpPr/>
          <p:nvPr>
            <p:custDataLst>
              <p:tags r:id="rId2"/>
            </p:custDataLst>
          </p:nvPr>
        </p:nvCxnSpPr>
        <p:spPr>
          <a:xfrm>
            <a:off x="987297" y="2837373"/>
            <a:ext cx="2408970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596265" y="1288415"/>
            <a:ext cx="3195320" cy="11658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技术趋势：</a:t>
            </a:r>
            <a:b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机器学习已成为慢性病风险预测的核心工具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4"/>
            </p:custDataLst>
          </p:nvPr>
        </p:nvSpPr>
        <p:spPr>
          <a:xfrm>
            <a:off x="767080" y="2985135"/>
            <a:ext cx="28848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研究已从传统统计模型转向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XGBoost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、随机森林、深度学习等机器学习算法。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范畴：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预测焦点正从单一疾病扩展到多病种及共病风险。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标题 1"/>
          <p:cNvSpPr txBox="1"/>
          <p:nvPr>
            <p:custDataLst>
              <p:tags r:id="rId5"/>
            </p:custDataLst>
          </p:nvPr>
        </p:nvSpPr>
        <p:spPr>
          <a:xfrm>
            <a:off x="4597400" y="1291590"/>
            <a:ext cx="3196590" cy="4376420"/>
          </a:xfrm>
          <a:prstGeom prst="roundRect">
            <a:avLst>
              <a:gd name="adj" fmla="val 362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47" name="标题 1"/>
          <p:cNvCxnSpPr/>
          <p:nvPr>
            <p:custDataLst>
              <p:tags r:id="rId6"/>
            </p:custDataLst>
          </p:nvPr>
        </p:nvCxnSpPr>
        <p:spPr>
          <a:xfrm>
            <a:off x="4989702" y="2391603"/>
            <a:ext cx="2408970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sp>
        <p:nvSpPr>
          <p:cNvPr id="48" name="矩形 47"/>
          <p:cNvSpPr/>
          <p:nvPr>
            <p:custDataLst>
              <p:tags r:id="rId7"/>
            </p:custDataLst>
          </p:nvPr>
        </p:nvSpPr>
        <p:spPr>
          <a:xfrm>
            <a:off x="4551680" y="1286510"/>
            <a:ext cx="3348355" cy="1041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预测指标：</a:t>
            </a:r>
            <a:b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从单一标志物到复合指标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>
            <a:off x="4563745" y="2562225"/>
            <a:ext cx="3302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从单一到综合：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研究趋势正从依赖单一生物标志物，转向构建综合性指标（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GLM7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）以提升预测效能。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当前不足：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目前，针对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GLM7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等前沿指标，其在多病种预测中的效能尚未被充分验证，也缺乏系统的跨人群评估与模型优化研究。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标题 1"/>
          <p:cNvSpPr txBox="1"/>
          <p:nvPr>
            <p:custDataLst>
              <p:tags r:id="rId9"/>
            </p:custDataLst>
          </p:nvPr>
        </p:nvSpPr>
        <p:spPr>
          <a:xfrm>
            <a:off x="8468360" y="1291590"/>
            <a:ext cx="3196590" cy="4376420"/>
          </a:xfrm>
          <a:prstGeom prst="roundRect">
            <a:avLst>
              <a:gd name="adj" fmla="val 362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51" name="标题 1"/>
          <p:cNvCxnSpPr/>
          <p:nvPr>
            <p:custDataLst>
              <p:tags r:id="rId10"/>
            </p:custDataLst>
          </p:nvPr>
        </p:nvCxnSpPr>
        <p:spPr>
          <a:xfrm>
            <a:off x="8860662" y="2391603"/>
            <a:ext cx="2408970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sp>
        <p:nvSpPr>
          <p:cNvPr id="52" name="矩形 51"/>
          <p:cNvSpPr/>
          <p:nvPr>
            <p:custDataLst>
              <p:tags r:id="rId11"/>
            </p:custDataLst>
          </p:nvPr>
        </p:nvSpPr>
        <p:spPr>
          <a:xfrm>
            <a:off x="8439785" y="1601470"/>
            <a:ext cx="3348355" cy="1041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数据基础与模型验证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>
            <p:custDataLst>
              <p:tags r:id="rId12"/>
            </p:custDataLst>
          </p:nvPr>
        </p:nvSpPr>
        <p:spPr>
          <a:xfrm>
            <a:off x="8446135" y="2562225"/>
            <a:ext cx="33108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数据基础坚实：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NHANES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CHARLS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两大数据库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为慢性病风险预测模型开发提供了高质量的数据基础。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核心挑战：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模型泛化能力不足。进行严格的跨队列外部验证是评估模型可靠性与适用性的关键。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8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532200" y="-695992"/>
            <a:ext cx="1127599" cy="541247"/>
            <a:chOff x="6141343" y="952029"/>
            <a:chExt cx="1800200" cy="864096"/>
          </a:xfrm>
        </p:grpSpPr>
        <p:sp>
          <p:nvSpPr>
            <p:cNvPr id="7" name="椭圆 6"/>
            <p:cNvSpPr/>
            <p:nvPr/>
          </p:nvSpPr>
          <p:spPr bwMode="auto">
            <a:xfrm>
              <a:off x="6141343" y="952029"/>
              <a:ext cx="864096" cy="864096"/>
            </a:xfrm>
            <a:prstGeom prst="ellipse">
              <a:avLst/>
            </a:prstGeom>
            <a:solidFill>
              <a:srgbClr val="ED1B34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7077447" y="952029"/>
              <a:ext cx="864096" cy="864096"/>
            </a:xfrm>
            <a:prstGeom prst="ellipse">
              <a:avLst/>
            </a:prstGeom>
            <a:solidFill>
              <a:srgbClr val="282F39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 flipH="1" flipV="1">
            <a:off x="1652336" y="-4999122"/>
            <a:ext cx="10539664" cy="11857122"/>
            <a:chOff x="-1" y="0"/>
            <a:chExt cx="7982857" cy="8980714"/>
          </a:xfrm>
        </p:grpSpPr>
        <p:sp>
          <p:nvSpPr>
            <p:cNvPr id="17" name="任意多边形: 形状 16"/>
            <p:cNvSpPr/>
            <p:nvPr/>
          </p:nvSpPr>
          <p:spPr>
            <a:xfrm>
              <a:off x="-1" y="0"/>
              <a:ext cx="7982857" cy="8980714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1"/>
              <a:ext cx="6096000" cy="6858000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ED1B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" y="1"/>
              <a:ext cx="2903620" cy="3266572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5" b="15214"/>
          <a:stretch>
            <a:fillRect/>
          </a:stretch>
        </p:blipFill>
        <p:spPr>
          <a:xfrm>
            <a:off x="197552" y="128338"/>
            <a:ext cx="3507170" cy="2470483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172857" y="1497438"/>
            <a:ext cx="1846286" cy="1621435"/>
            <a:chOff x="5285283" y="1369102"/>
            <a:chExt cx="1846286" cy="1621435"/>
          </a:xfrm>
        </p:grpSpPr>
        <p:sp>
          <p:nvSpPr>
            <p:cNvPr id="12" name="菱形 11"/>
            <p:cNvSpPr/>
            <p:nvPr/>
          </p:nvSpPr>
          <p:spPr>
            <a:xfrm>
              <a:off x="5510134" y="1369102"/>
              <a:ext cx="1621435" cy="1621435"/>
            </a:xfrm>
            <a:prstGeom prst="diamond">
              <a:avLst/>
            </a:prstGeom>
            <a:noFill/>
            <a:ln>
              <a:solidFill>
                <a:srgbClr val="BE1A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菱形 12"/>
            <p:cNvSpPr/>
            <p:nvPr/>
          </p:nvSpPr>
          <p:spPr>
            <a:xfrm>
              <a:off x="5285283" y="1369102"/>
              <a:ext cx="1621435" cy="1621435"/>
            </a:xfrm>
            <a:prstGeom prst="diamond">
              <a:avLst/>
            </a:pr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590654" y="1671988"/>
              <a:ext cx="1040670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3721768" y="3332701"/>
            <a:ext cx="4748464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4800" b="1" kern="0">
                <a:solidFill>
                  <a:srgbClr val="BE1A3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研究内容与方案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71550" cy="1163868"/>
            <a:chOff x="0" y="0"/>
            <a:chExt cx="6116470" cy="7327220"/>
          </a:xfrm>
        </p:grpSpPr>
        <p:sp>
          <p:nvSpPr>
            <p:cNvPr id="3" name="Freeform 22"/>
            <p:cNvSpPr/>
            <p:nvPr/>
          </p:nvSpPr>
          <p:spPr>
            <a:xfrm rot="584957">
              <a:off x="537093" y="591927"/>
              <a:ext cx="4967412" cy="6735293"/>
            </a:xfrm>
            <a:custGeom>
              <a:avLst/>
              <a:gdLst>
                <a:gd name="connsiteX0" fmla="*/ 0 w 4967412"/>
                <a:gd name="connsiteY0" fmla="*/ 0 h 6735293"/>
                <a:gd name="connsiteX1" fmla="*/ 4967412 w 4967412"/>
                <a:gd name="connsiteY1" fmla="*/ 0 h 6735293"/>
                <a:gd name="connsiteX2" fmla="*/ 4555063 w 4967412"/>
                <a:gd name="connsiteY2" fmla="*/ 128938 h 6735293"/>
                <a:gd name="connsiteX3" fmla="*/ 101259 w 4967412"/>
                <a:gd name="connsiteY3" fmla="*/ 6262544 h 6735293"/>
                <a:gd name="connsiteX4" fmla="*/ 47842 w 4967412"/>
                <a:gd name="connsiteY4" fmla="*/ 6727073 h 6735293"/>
                <a:gd name="connsiteX5" fmla="*/ 0 w 4967412"/>
                <a:gd name="connsiteY5" fmla="*/ 6735293 h 673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7412" h="6735293">
                  <a:moveTo>
                    <a:pt x="0" y="0"/>
                  </a:moveTo>
                  <a:lnTo>
                    <a:pt x="4967412" y="0"/>
                  </a:lnTo>
                  <a:lnTo>
                    <a:pt x="4555063" y="128938"/>
                  </a:lnTo>
                  <a:cubicBezTo>
                    <a:pt x="2271342" y="992714"/>
                    <a:pt x="528975" y="3350710"/>
                    <a:pt x="101259" y="6262544"/>
                  </a:cubicBezTo>
                  <a:lnTo>
                    <a:pt x="47842" y="6727073"/>
                  </a:lnTo>
                  <a:lnTo>
                    <a:pt x="0" y="6735293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21"/>
            <p:cNvSpPr/>
            <p:nvPr/>
          </p:nvSpPr>
          <p:spPr>
            <a:xfrm>
              <a:off x="0" y="0"/>
              <a:ext cx="6116470" cy="6858000"/>
            </a:xfrm>
            <a:custGeom>
              <a:avLst/>
              <a:gdLst>
                <a:gd name="connsiteX0" fmla="*/ 0 w 6116470"/>
                <a:gd name="connsiteY0" fmla="*/ 0 h 6858000"/>
                <a:gd name="connsiteX1" fmla="*/ 6116470 w 6116470"/>
                <a:gd name="connsiteY1" fmla="*/ 0 h 6858000"/>
                <a:gd name="connsiteX2" fmla="*/ 5608736 w 6116470"/>
                <a:gd name="connsiteY2" fmla="*/ 130556 h 6858000"/>
                <a:gd name="connsiteX3" fmla="*/ 77448 w 6116470"/>
                <a:gd name="connsiteY3" fmla="*/ 6637800 h 6858000"/>
                <a:gd name="connsiteX4" fmla="*/ 50872 w 6116470"/>
                <a:gd name="connsiteY4" fmla="*/ 6858000 h 6858000"/>
                <a:gd name="connsiteX5" fmla="*/ 0 w 6116470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6470" h="6858000">
                  <a:moveTo>
                    <a:pt x="0" y="0"/>
                  </a:moveTo>
                  <a:lnTo>
                    <a:pt x="6116470" y="0"/>
                  </a:lnTo>
                  <a:lnTo>
                    <a:pt x="5608736" y="130556"/>
                  </a:lnTo>
                  <a:cubicBezTo>
                    <a:pt x="2703014" y="1034325"/>
                    <a:pt x="509051" y="3553609"/>
                    <a:pt x="77448" y="6637800"/>
                  </a:cubicBezTo>
                  <a:lnTo>
                    <a:pt x="508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679" y="261579"/>
            <a:ext cx="3332174" cy="7207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162552" tIns="81276" rIns="162552" bIns="81276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533" normalizeH="0" baseline="0" noProof="0" dirty="0">
                <a:ln>
                  <a:noFill/>
                </a:ln>
                <a:solidFill>
                  <a:srgbClr val="BE1A30"/>
                </a:solidFill>
                <a:effectLst/>
                <a:uLnTx/>
                <a:uFillTx/>
                <a:cs typeface="+mn-ea"/>
                <a:sym typeface="+mn-lt"/>
              </a:rPr>
              <a:t>研究内容</a:t>
            </a:r>
            <a:endParaRPr kumimoji="0" lang="zh-CN" altLang="en-US" sz="2800" b="1" i="0" u="none" strike="noStrike" kern="0" cap="none" spc="533" normalizeH="0" baseline="0" noProof="0" dirty="0">
              <a:ln>
                <a:noFill/>
              </a:ln>
              <a:solidFill>
                <a:srgbClr val="BE1A3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4082311" y="2022809"/>
            <a:ext cx="3638550" cy="3335338"/>
            <a:chOff x="4062414" y="1933575"/>
            <a:chExt cx="3638550" cy="3335338"/>
          </a:xfrm>
        </p:grpSpPr>
        <p:sp>
          <p:nvSpPr>
            <p:cNvPr id="7" name="形状"/>
            <p:cNvSpPr/>
            <p:nvPr>
              <p:custDataLst>
                <p:tags r:id="rId2"/>
              </p:custDataLst>
            </p:nvPr>
          </p:nvSpPr>
          <p:spPr bwMode="auto">
            <a:xfrm>
              <a:off x="4062414" y="1933575"/>
              <a:ext cx="1935163" cy="1800225"/>
            </a:xfrm>
            <a:custGeom>
              <a:avLst/>
              <a:gdLst>
                <a:gd name="T0" fmla="*/ 777 w 777"/>
                <a:gd name="T1" fmla="*/ 0 h 723"/>
                <a:gd name="T2" fmla="*/ 777 w 777"/>
                <a:gd name="T3" fmla="*/ 516 h 723"/>
                <a:gd name="T4" fmla="*/ 490 w 777"/>
                <a:gd name="T5" fmla="*/ 723 h 723"/>
                <a:gd name="T6" fmla="*/ 374 w 777"/>
                <a:gd name="T7" fmla="*/ 685 h 723"/>
                <a:gd name="T8" fmla="*/ 0 w 777"/>
                <a:gd name="T9" fmla="*/ 564 h 723"/>
                <a:gd name="T10" fmla="*/ 777 w 777"/>
                <a:gd name="T11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7" h="723">
                  <a:moveTo>
                    <a:pt x="777" y="0"/>
                  </a:moveTo>
                  <a:cubicBezTo>
                    <a:pt x="777" y="516"/>
                    <a:pt x="777" y="516"/>
                    <a:pt x="777" y="516"/>
                  </a:cubicBezTo>
                  <a:cubicBezTo>
                    <a:pt x="643" y="516"/>
                    <a:pt x="530" y="603"/>
                    <a:pt x="490" y="723"/>
                  </a:cubicBezTo>
                  <a:cubicBezTo>
                    <a:pt x="374" y="685"/>
                    <a:pt x="374" y="685"/>
                    <a:pt x="374" y="685"/>
                  </a:cubicBezTo>
                  <a:cubicBezTo>
                    <a:pt x="0" y="564"/>
                    <a:pt x="0" y="564"/>
                    <a:pt x="0" y="564"/>
                  </a:cubicBezTo>
                  <a:cubicBezTo>
                    <a:pt x="112" y="221"/>
                    <a:pt x="416" y="0"/>
                    <a:pt x="777" y="0"/>
                  </a:cubicBezTo>
                  <a:close/>
                </a:path>
              </a:pathLst>
            </a:custGeom>
            <a:solidFill>
              <a:srgbClr val="BE1A30">
                <a:alpha val="9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形状"/>
            <p:cNvSpPr/>
            <p:nvPr>
              <p:custDataLst>
                <p:tags r:id="rId3"/>
              </p:custDataLst>
            </p:nvPr>
          </p:nvSpPr>
          <p:spPr bwMode="auto">
            <a:xfrm>
              <a:off x="5283201" y="3219450"/>
              <a:ext cx="714375" cy="617538"/>
            </a:xfrm>
            <a:custGeom>
              <a:avLst/>
              <a:gdLst>
                <a:gd name="T0" fmla="*/ 287 w 287"/>
                <a:gd name="T1" fmla="*/ 0 h 248"/>
                <a:gd name="T2" fmla="*/ 287 w 287"/>
                <a:gd name="T3" fmla="*/ 132 h 248"/>
                <a:gd name="T4" fmla="*/ 167 w 287"/>
                <a:gd name="T5" fmla="*/ 182 h 248"/>
                <a:gd name="T6" fmla="*/ 126 w 287"/>
                <a:gd name="T7" fmla="*/ 248 h 248"/>
                <a:gd name="T8" fmla="*/ 0 w 287"/>
                <a:gd name="T9" fmla="*/ 207 h 248"/>
                <a:gd name="T10" fmla="*/ 287 w 287"/>
                <a:gd name="T1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" h="248">
                  <a:moveTo>
                    <a:pt x="287" y="0"/>
                  </a:moveTo>
                  <a:cubicBezTo>
                    <a:pt x="287" y="132"/>
                    <a:pt x="287" y="132"/>
                    <a:pt x="287" y="132"/>
                  </a:cubicBezTo>
                  <a:cubicBezTo>
                    <a:pt x="243" y="132"/>
                    <a:pt x="200" y="149"/>
                    <a:pt x="167" y="182"/>
                  </a:cubicBezTo>
                  <a:cubicBezTo>
                    <a:pt x="147" y="201"/>
                    <a:pt x="134" y="224"/>
                    <a:pt x="126" y="248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40" y="87"/>
                    <a:pt x="153" y="0"/>
                    <a:pt x="287" y="0"/>
                  </a:cubicBezTo>
                  <a:close/>
                </a:path>
              </a:pathLst>
            </a:custGeom>
            <a:solidFill>
              <a:srgbClr val="BE1A30">
                <a:alpha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形状"/>
            <p:cNvSpPr/>
            <p:nvPr>
              <p:custDataLst>
                <p:tags r:id="rId4"/>
              </p:custDataLst>
            </p:nvPr>
          </p:nvSpPr>
          <p:spPr bwMode="auto">
            <a:xfrm>
              <a:off x="5997576" y="2178050"/>
              <a:ext cx="1703388" cy="1555750"/>
            </a:xfrm>
            <a:custGeom>
              <a:avLst/>
              <a:gdLst>
                <a:gd name="T0" fmla="*/ 684 w 684"/>
                <a:gd name="T1" fmla="*/ 496 h 625"/>
                <a:gd name="T2" fmla="*/ 286 w 684"/>
                <a:gd name="T3" fmla="*/ 625 h 625"/>
                <a:gd name="T4" fmla="*/ 0 w 684"/>
                <a:gd name="T5" fmla="*/ 418 h 625"/>
                <a:gd name="T6" fmla="*/ 0 w 684"/>
                <a:gd name="T7" fmla="*/ 0 h 625"/>
                <a:gd name="T8" fmla="*/ 684 w 684"/>
                <a:gd name="T9" fmla="*/ 496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4" h="625">
                  <a:moveTo>
                    <a:pt x="684" y="496"/>
                  </a:moveTo>
                  <a:cubicBezTo>
                    <a:pt x="286" y="625"/>
                    <a:pt x="286" y="625"/>
                    <a:pt x="286" y="625"/>
                  </a:cubicBezTo>
                  <a:cubicBezTo>
                    <a:pt x="246" y="505"/>
                    <a:pt x="133" y="418"/>
                    <a:pt x="0" y="4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19" y="0"/>
                    <a:pt x="590" y="208"/>
                    <a:pt x="684" y="496"/>
                  </a:cubicBezTo>
                  <a:close/>
                </a:path>
              </a:pathLst>
            </a:custGeom>
            <a:solidFill>
              <a:srgbClr val="303B4B">
                <a:alpha val="9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形状"/>
            <p:cNvSpPr/>
            <p:nvPr>
              <p:custDataLst>
                <p:tags r:id="rId5"/>
              </p:custDataLst>
            </p:nvPr>
          </p:nvSpPr>
          <p:spPr bwMode="auto">
            <a:xfrm>
              <a:off x="5997576" y="3219450"/>
              <a:ext cx="711200" cy="617538"/>
            </a:xfrm>
            <a:custGeom>
              <a:avLst/>
              <a:gdLst>
                <a:gd name="T0" fmla="*/ 286 w 286"/>
                <a:gd name="T1" fmla="*/ 207 h 248"/>
                <a:gd name="T2" fmla="*/ 161 w 286"/>
                <a:gd name="T3" fmla="*/ 248 h 248"/>
                <a:gd name="T4" fmla="*/ 120 w 286"/>
                <a:gd name="T5" fmla="*/ 182 h 248"/>
                <a:gd name="T6" fmla="*/ 0 w 286"/>
                <a:gd name="T7" fmla="*/ 132 h 248"/>
                <a:gd name="T8" fmla="*/ 0 w 286"/>
                <a:gd name="T9" fmla="*/ 0 h 248"/>
                <a:gd name="T10" fmla="*/ 286 w 286"/>
                <a:gd name="T11" fmla="*/ 207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6" h="248">
                  <a:moveTo>
                    <a:pt x="286" y="207"/>
                  </a:moveTo>
                  <a:cubicBezTo>
                    <a:pt x="161" y="248"/>
                    <a:pt x="161" y="248"/>
                    <a:pt x="161" y="248"/>
                  </a:cubicBezTo>
                  <a:cubicBezTo>
                    <a:pt x="153" y="224"/>
                    <a:pt x="139" y="201"/>
                    <a:pt x="120" y="182"/>
                  </a:cubicBezTo>
                  <a:cubicBezTo>
                    <a:pt x="87" y="149"/>
                    <a:pt x="43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3" y="0"/>
                    <a:pt x="246" y="87"/>
                    <a:pt x="286" y="207"/>
                  </a:cubicBezTo>
                  <a:close/>
                </a:path>
              </a:pathLst>
            </a:custGeom>
            <a:solidFill>
              <a:srgbClr val="303B4B">
                <a:alpha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形状"/>
            <p:cNvSpPr/>
            <p:nvPr>
              <p:custDataLst>
                <p:tags r:id="rId6"/>
              </p:custDataLst>
            </p:nvPr>
          </p:nvSpPr>
          <p:spPr bwMode="auto">
            <a:xfrm>
              <a:off x="6440489" y="3487738"/>
              <a:ext cx="1100138" cy="1730375"/>
            </a:xfrm>
            <a:custGeom>
              <a:avLst/>
              <a:gdLst>
                <a:gd name="T0" fmla="*/ 442 w 442"/>
                <a:gd name="T1" fmla="*/ 194 h 695"/>
                <a:gd name="T2" fmla="*/ 187 w 442"/>
                <a:gd name="T3" fmla="*/ 695 h 695"/>
                <a:gd name="T4" fmla="*/ 129 w 442"/>
                <a:gd name="T5" fmla="*/ 616 h 695"/>
                <a:gd name="T6" fmla="*/ 0 w 442"/>
                <a:gd name="T7" fmla="*/ 437 h 695"/>
                <a:gd name="T8" fmla="*/ 123 w 442"/>
                <a:gd name="T9" fmla="*/ 194 h 695"/>
                <a:gd name="T10" fmla="*/ 108 w 442"/>
                <a:gd name="T11" fmla="*/ 99 h 695"/>
                <a:gd name="T12" fmla="*/ 412 w 442"/>
                <a:gd name="T13" fmla="*/ 0 h 695"/>
                <a:gd name="T14" fmla="*/ 442 w 442"/>
                <a:gd name="T15" fmla="*/ 194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695">
                  <a:moveTo>
                    <a:pt x="442" y="194"/>
                  </a:moveTo>
                  <a:cubicBezTo>
                    <a:pt x="442" y="400"/>
                    <a:pt x="342" y="583"/>
                    <a:pt x="187" y="695"/>
                  </a:cubicBezTo>
                  <a:cubicBezTo>
                    <a:pt x="129" y="616"/>
                    <a:pt x="129" y="616"/>
                    <a:pt x="129" y="616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75" y="382"/>
                    <a:pt x="123" y="294"/>
                    <a:pt x="123" y="194"/>
                  </a:cubicBezTo>
                  <a:cubicBezTo>
                    <a:pt x="123" y="161"/>
                    <a:pt x="118" y="129"/>
                    <a:pt x="108" y="99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432" y="61"/>
                    <a:pt x="442" y="126"/>
                    <a:pt x="442" y="194"/>
                  </a:cubicBez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形状"/>
            <p:cNvSpPr/>
            <p:nvPr>
              <p:custDataLst>
                <p:tags r:id="rId7"/>
              </p:custDataLst>
            </p:nvPr>
          </p:nvSpPr>
          <p:spPr bwMode="auto">
            <a:xfrm>
              <a:off x="6246814" y="3733800"/>
              <a:ext cx="500063" cy="842963"/>
            </a:xfrm>
            <a:custGeom>
              <a:avLst/>
              <a:gdLst>
                <a:gd name="T0" fmla="*/ 201 w 201"/>
                <a:gd name="T1" fmla="*/ 95 h 338"/>
                <a:gd name="T2" fmla="*/ 78 w 201"/>
                <a:gd name="T3" fmla="*/ 338 h 338"/>
                <a:gd name="T4" fmla="*/ 78 w 201"/>
                <a:gd name="T5" fmla="*/ 338 h 338"/>
                <a:gd name="T6" fmla="*/ 0 w 201"/>
                <a:gd name="T7" fmla="*/ 231 h 338"/>
                <a:gd name="T8" fmla="*/ 20 w 201"/>
                <a:gd name="T9" fmla="*/ 215 h 338"/>
                <a:gd name="T10" fmla="*/ 61 w 201"/>
                <a:gd name="T11" fmla="*/ 41 h 338"/>
                <a:gd name="T12" fmla="*/ 186 w 201"/>
                <a:gd name="T13" fmla="*/ 0 h 338"/>
                <a:gd name="T14" fmla="*/ 201 w 201"/>
                <a:gd name="T15" fmla="*/ 9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1" h="338">
                  <a:moveTo>
                    <a:pt x="201" y="95"/>
                  </a:moveTo>
                  <a:cubicBezTo>
                    <a:pt x="201" y="195"/>
                    <a:pt x="153" y="283"/>
                    <a:pt x="78" y="338"/>
                  </a:cubicBezTo>
                  <a:cubicBezTo>
                    <a:pt x="78" y="338"/>
                    <a:pt x="78" y="338"/>
                    <a:pt x="78" y="338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7" y="226"/>
                    <a:pt x="14" y="221"/>
                    <a:pt x="20" y="215"/>
                  </a:cubicBezTo>
                  <a:cubicBezTo>
                    <a:pt x="67" y="168"/>
                    <a:pt x="80" y="100"/>
                    <a:pt x="61" y="41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96" y="30"/>
                    <a:pt x="201" y="62"/>
                    <a:pt x="201" y="95"/>
                  </a:cubicBezTo>
                  <a:close/>
                </a:path>
              </a:pathLst>
            </a:custGeom>
            <a:solidFill>
              <a:srgbClr val="BE1A30">
                <a:alpha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 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形状"/>
            <p:cNvSpPr/>
            <p:nvPr>
              <p:custDataLst>
                <p:tags r:id="rId8"/>
              </p:custDataLst>
            </p:nvPr>
          </p:nvSpPr>
          <p:spPr bwMode="auto">
            <a:xfrm>
              <a:off x="6246814" y="4310063"/>
              <a:ext cx="193675" cy="266700"/>
            </a:xfrm>
            <a:custGeom>
              <a:avLst/>
              <a:gdLst>
                <a:gd name="T0" fmla="*/ 78 w 78"/>
                <a:gd name="T1" fmla="*/ 107 h 107"/>
                <a:gd name="T2" fmla="*/ 0 w 78"/>
                <a:gd name="T3" fmla="*/ 0 h 107"/>
                <a:gd name="T4" fmla="*/ 0 w 78"/>
                <a:gd name="T5" fmla="*/ 0 h 107"/>
                <a:gd name="T6" fmla="*/ 78 w 78"/>
                <a:gd name="T7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7">
                  <a:moveTo>
                    <a:pt x="78" y="10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78" y="107"/>
                  </a:lnTo>
                  <a:close/>
                </a:path>
              </a:pathLst>
            </a:custGeom>
            <a:solidFill>
              <a:srgbClr val="5059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形状"/>
            <p:cNvSpPr/>
            <p:nvPr>
              <p:custDataLst>
                <p:tags r:id="rId9"/>
              </p:custDataLst>
            </p:nvPr>
          </p:nvSpPr>
          <p:spPr bwMode="auto">
            <a:xfrm>
              <a:off x="5230814" y="4573588"/>
              <a:ext cx="1530350" cy="695325"/>
            </a:xfrm>
            <a:custGeom>
              <a:avLst/>
              <a:gdLst>
                <a:gd name="T0" fmla="*/ 130 w 615"/>
                <a:gd name="T1" fmla="*/ 0 h 279"/>
                <a:gd name="T2" fmla="*/ 308 w 615"/>
                <a:gd name="T3" fmla="*/ 58 h 279"/>
                <a:gd name="T4" fmla="*/ 486 w 615"/>
                <a:gd name="T5" fmla="*/ 0 h 279"/>
                <a:gd name="T6" fmla="*/ 486 w 615"/>
                <a:gd name="T7" fmla="*/ 0 h 279"/>
                <a:gd name="T8" fmla="*/ 615 w 615"/>
                <a:gd name="T9" fmla="*/ 179 h 279"/>
                <a:gd name="T10" fmla="*/ 308 w 615"/>
                <a:gd name="T11" fmla="*/ 279 h 279"/>
                <a:gd name="T12" fmla="*/ 0 w 615"/>
                <a:gd name="T13" fmla="*/ 179 h 279"/>
                <a:gd name="T14" fmla="*/ 58 w 615"/>
                <a:gd name="T15" fmla="*/ 99 h 279"/>
                <a:gd name="T16" fmla="*/ 130 w 615"/>
                <a:gd name="T17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5" h="279">
                  <a:moveTo>
                    <a:pt x="130" y="0"/>
                  </a:moveTo>
                  <a:cubicBezTo>
                    <a:pt x="180" y="37"/>
                    <a:pt x="241" y="58"/>
                    <a:pt x="308" y="58"/>
                  </a:cubicBezTo>
                  <a:cubicBezTo>
                    <a:pt x="374" y="58"/>
                    <a:pt x="436" y="37"/>
                    <a:pt x="486" y="0"/>
                  </a:cubicBezTo>
                  <a:cubicBezTo>
                    <a:pt x="486" y="0"/>
                    <a:pt x="486" y="0"/>
                    <a:pt x="486" y="0"/>
                  </a:cubicBezTo>
                  <a:cubicBezTo>
                    <a:pt x="615" y="179"/>
                    <a:pt x="615" y="179"/>
                    <a:pt x="615" y="179"/>
                  </a:cubicBezTo>
                  <a:cubicBezTo>
                    <a:pt x="529" y="242"/>
                    <a:pt x="423" y="279"/>
                    <a:pt x="308" y="279"/>
                  </a:cubicBezTo>
                  <a:cubicBezTo>
                    <a:pt x="193" y="279"/>
                    <a:pt x="86" y="242"/>
                    <a:pt x="0" y="179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130" y="0"/>
                    <a:pt x="130" y="0"/>
                    <a:pt x="130" y="0"/>
                  </a:cubicBez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形状"/>
            <p:cNvSpPr/>
            <p:nvPr>
              <p:custDataLst>
                <p:tags r:id="rId10"/>
              </p:custDataLst>
            </p:nvPr>
          </p:nvSpPr>
          <p:spPr bwMode="auto">
            <a:xfrm>
              <a:off x="5554664" y="4310063"/>
              <a:ext cx="885825" cy="411163"/>
            </a:xfrm>
            <a:custGeom>
              <a:avLst/>
              <a:gdLst>
                <a:gd name="T0" fmla="*/ 356 w 356"/>
                <a:gd name="T1" fmla="*/ 107 h 165"/>
                <a:gd name="T2" fmla="*/ 178 w 356"/>
                <a:gd name="T3" fmla="*/ 165 h 165"/>
                <a:gd name="T4" fmla="*/ 0 w 356"/>
                <a:gd name="T5" fmla="*/ 107 h 165"/>
                <a:gd name="T6" fmla="*/ 77 w 356"/>
                <a:gd name="T7" fmla="*/ 0 h 165"/>
                <a:gd name="T8" fmla="*/ 278 w 356"/>
                <a:gd name="T9" fmla="*/ 0 h 165"/>
                <a:gd name="T10" fmla="*/ 356 w 356"/>
                <a:gd name="T11" fmla="*/ 107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6" h="165">
                  <a:moveTo>
                    <a:pt x="356" y="107"/>
                  </a:moveTo>
                  <a:cubicBezTo>
                    <a:pt x="306" y="144"/>
                    <a:pt x="244" y="165"/>
                    <a:pt x="178" y="165"/>
                  </a:cubicBezTo>
                  <a:cubicBezTo>
                    <a:pt x="111" y="165"/>
                    <a:pt x="50" y="144"/>
                    <a:pt x="0" y="107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137" y="44"/>
                    <a:pt x="219" y="44"/>
                    <a:pt x="278" y="0"/>
                  </a:cubicBezTo>
                  <a:lnTo>
                    <a:pt x="356" y="107"/>
                  </a:lnTo>
                  <a:close/>
                </a:path>
              </a:pathLst>
            </a:custGeom>
            <a:solidFill>
              <a:srgbClr val="4F586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6" name="形状"/>
            <p:cNvSpPr/>
            <p:nvPr>
              <p:custDataLst>
                <p:tags r:id="rId11"/>
              </p:custDataLst>
            </p:nvPr>
          </p:nvSpPr>
          <p:spPr bwMode="auto">
            <a:xfrm>
              <a:off x="4941889" y="3640138"/>
              <a:ext cx="612775" cy="1182688"/>
            </a:xfrm>
            <a:custGeom>
              <a:avLst/>
              <a:gdLst>
                <a:gd name="T0" fmla="*/ 246 w 246"/>
                <a:gd name="T1" fmla="*/ 376 h 475"/>
                <a:gd name="T2" fmla="*/ 174 w 246"/>
                <a:gd name="T3" fmla="*/ 475 h 475"/>
                <a:gd name="T4" fmla="*/ 174 w 246"/>
                <a:gd name="T5" fmla="*/ 475 h 475"/>
                <a:gd name="T6" fmla="*/ 0 w 246"/>
                <a:gd name="T7" fmla="*/ 133 h 475"/>
                <a:gd name="T8" fmla="*/ 21 w 246"/>
                <a:gd name="T9" fmla="*/ 0 h 475"/>
                <a:gd name="T10" fmla="*/ 137 w 246"/>
                <a:gd name="T11" fmla="*/ 38 h 475"/>
                <a:gd name="T12" fmla="*/ 122 w 246"/>
                <a:gd name="T13" fmla="*/ 133 h 475"/>
                <a:gd name="T14" fmla="*/ 246 w 246"/>
                <a:gd name="T15" fmla="*/ 376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6" h="475">
                  <a:moveTo>
                    <a:pt x="246" y="376"/>
                  </a:moveTo>
                  <a:cubicBezTo>
                    <a:pt x="174" y="475"/>
                    <a:pt x="174" y="475"/>
                    <a:pt x="174" y="475"/>
                  </a:cubicBezTo>
                  <a:cubicBezTo>
                    <a:pt x="174" y="475"/>
                    <a:pt x="174" y="475"/>
                    <a:pt x="174" y="475"/>
                  </a:cubicBezTo>
                  <a:cubicBezTo>
                    <a:pt x="69" y="398"/>
                    <a:pt x="0" y="273"/>
                    <a:pt x="0" y="133"/>
                  </a:cubicBezTo>
                  <a:cubicBezTo>
                    <a:pt x="0" y="86"/>
                    <a:pt x="8" y="42"/>
                    <a:pt x="21" y="0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27" y="68"/>
                    <a:pt x="122" y="100"/>
                    <a:pt x="122" y="133"/>
                  </a:cubicBezTo>
                  <a:cubicBezTo>
                    <a:pt x="122" y="233"/>
                    <a:pt x="171" y="321"/>
                    <a:pt x="246" y="37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形状"/>
            <p:cNvSpPr/>
            <p:nvPr>
              <p:custDataLst>
                <p:tags r:id="rId12"/>
              </p:custDataLst>
            </p:nvPr>
          </p:nvSpPr>
          <p:spPr bwMode="auto">
            <a:xfrm>
              <a:off x="5245101" y="3733800"/>
              <a:ext cx="500063" cy="842963"/>
            </a:xfrm>
            <a:custGeom>
              <a:avLst/>
              <a:gdLst>
                <a:gd name="T0" fmla="*/ 201 w 201"/>
                <a:gd name="T1" fmla="*/ 231 h 338"/>
                <a:gd name="T2" fmla="*/ 124 w 201"/>
                <a:gd name="T3" fmla="*/ 338 h 338"/>
                <a:gd name="T4" fmla="*/ 0 w 201"/>
                <a:gd name="T5" fmla="*/ 95 h 338"/>
                <a:gd name="T6" fmla="*/ 15 w 201"/>
                <a:gd name="T7" fmla="*/ 0 h 338"/>
                <a:gd name="T8" fmla="*/ 141 w 201"/>
                <a:gd name="T9" fmla="*/ 41 h 338"/>
                <a:gd name="T10" fmla="*/ 182 w 201"/>
                <a:gd name="T11" fmla="*/ 215 h 338"/>
                <a:gd name="T12" fmla="*/ 201 w 201"/>
                <a:gd name="T13" fmla="*/ 231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338">
                  <a:moveTo>
                    <a:pt x="201" y="231"/>
                  </a:moveTo>
                  <a:cubicBezTo>
                    <a:pt x="124" y="338"/>
                    <a:pt x="124" y="338"/>
                    <a:pt x="124" y="338"/>
                  </a:cubicBezTo>
                  <a:cubicBezTo>
                    <a:pt x="49" y="283"/>
                    <a:pt x="0" y="195"/>
                    <a:pt x="0" y="95"/>
                  </a:cubicBezTo>
                  <a:cubicBezTo>
                    <a:pt x="0" y="62"/>
                    <a:pt x="5" y="30"/>
                    <a:pt x="15" y="0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21" y="100"/>
                    <a:pt x="135" y="168"/>
                    <a:pt x="182" y="215"/>
                  </a:cubicBezTo>
                  <a:cubicBezTo>
                    <a:pt x="188" y="221"/>
                    <a:pt x="194" y="226"/>
                    <a:pt x="201" y="23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8" name="形状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070644" y="2613026"/>
              <a:ext cx="295275" cy="342900"/>
            </a:xfrm>
            <a:custGeom>
              <a:avLst/>
              <a:gdLst>
                <a:gd name="T0" fmla="*/ 83 w 119"/>
                <a:gd name="T1" fmla="*/ 83 h 138"/>
                <a:gd name="T2" fmla="*/ 109 w 119"/>
                <a:gd name="T3" fmla="*/ 41 h 138"/>
                <a:gd name="T4" fmla="*/ 97 w 119"/>
                <a:gd name="T5" fmla="*/ 38 h 138"/>
                <a:gd name="T6" fmla="*/ 70 w 119"/>
                <a:gd name="T7" fmla="*/ 14 h 138"/>
                <a:gd name="T8" fmla="*/ 49 w 119"/>
                <a:gd name="T9" fmla="*/ 25 h 138"/>
                <a:gd name="T10" fmla="*/ 18 w 119"/>
                <a:gd name="T11" fmla="*/ 34 h 138"/>
                <a:gd name="T12" fmla="*/ 15 w 119"/>
                <a:gd name="T13" fmla="*/ 45 h 138"/>
                <a:gd name="T14" fmla="*/ 116 w 119"/>
                <a:gd name="T15" fmla="*/ 81 h 138"/>
                <a:gd name="T16" fmla="*/ 109 w 119"/>
                <a:gd name="T17" fmla="*/ 41 h 138"/>
                <a:gd name="T18" fmla="*/ 59 w 119"/>
                <a:gd name="T19" fmla="*/ 133 h 138"/>
                <a:gd name="T20" fmla="*/ 119 w 119"/>
                <a:gd name="T21" fmla="*/ 35 h 138"/>
                <a:gd name="T22" fmla="*/ 111 w 119"/>
                <a:gd name="T23" fmla="*/ 42 h 138"/>
                <a:gd name="T24" fmla="*/ 107 w 119"/>
                <a:gd name="T25" fmla="*/ 24 h 138"/>
                <a:gd name="T26" fmla="*/ 1 w 119"/>
                <a:gd name="T27" fmla="*/ 35 h 138"/>
                <a:gd name="T28" fmla="*/ 18 w 119"/>
                <a:gd name="T29" fmla="*/ 29 h 138"/>
                <a:gd name="T30" fmla="*/ 6 w 119"/>
                <a:gd name="T31" fmla="*/ 42 h 138"/>
                <a:gd name="T32" fmla="*/ 42 w 119"/>
                <a:gd name="T33" fmla="*/ 0 h 138"/>
                <a:gd name="T34" fmla="*/ 79 w 119"/>
                <a:gd name="T35" fmla="*/ 11 h 138"/>
                <a:gd name="T36" fmla="*/ 40 w 119"/>
                <a:gd name="T37" fmla="*/ 11 h 138"/>
                <a:gd name="T38" fmla="*/ 52 w 119"/>
                <a:gd name="T39" fmla="*/ 80 h 138"/>
                <a:gd name="T40" fmla="*/ 60 w 119"/>
                <a:gd name="T41" fmla="*/ 73 h 138"/>
                <a:gd name="T42" fmla="*/ 18 w 119"/>
                <a:gd name="T43" fmla="*/ 73 h 138"/>
                <a:gd name="T44" fmla="*/ 17 w 119"/>
                <a:gd name="T45" fmla="*/ 81 h 138"/>
                <a:gd name="T46" fmla="*/ 20 w 119"/>
                <a:gd name="T47" fmla="*/ 95 h 138"/>
                <a:gd name="T48" fmla="*/ 23 w 119"/>
                <a:gd name="T49" fmla="*/ 102 h 138"/>
                <a:gd name="T50" fmla="*/ 32 w 119"/>
                <a:gd name="T51" fmla="*/ 113 h 138"/>
                <a:gd name="T52" fmla="*/ 39 w 119"/>
                <a:gd name="T53" fmla="*/ 117 h 138"/>
                <a:gd name="T54" fmla="*/ 52 w 119"/>
                <a:gd name="T55" fmla="*/ 122 h 138"/>
                <a:gd name="T56" fmla="*/ 60 w 119"/>
                <a:gd name="T57" fmla="*/ 123 h 138"/>
                <a:gd name="T58" fmla="*/ 74 w 119"/>
                <a:gd name="T59" fmla="*/ 120 h 138"/>
                <a:gd name="T60" fmla="*/ 81 w 119"/>
                <a:gd name="T61" fmla="*/ 117 h 138"/>
                <a:gd name="T62" fmla="*/ 92 w 119"/>
                <a:gd name="T63" fmla="*/ 108 h 138"/>
                <a:gd name="T64" fmla="*/ 97 w 119"/>
                <a:gd name="T65" fmla="*/ 101 h 138"/>
                <a:gd name="T66" fmla="*/ 102 w 119"/>
                <a:gd name="T67" fmla="*/ 88 h 138"/>
                <a:gd name="T68" fmla="*/ 102 w 119"/>
                <a:gd name="T69" fmla="*/ 80 h 138"/>
                <a:gd name="T70" fmla="*/ 100 w 119"/>
                <a:gd name="T71" fmla="*/ 66 h 138"/>
                <a:gd name="T72" fmla="*/ 96 w 119"/>
                <a:gd name="T73" fmla="*/ 59 h 138"/>
                <a:gd name="T74" fmla="*/ 87 w 119"/>
                <a:gd name="T75" fmla="*/ 48 h 138"/>
                <a:gd name="T76" fmla="*/ 81 w 119"/>
                <a:gd name="T77" fmla="*/ 43 h 138"/>
                <a:gd name="T78" fmla="*/ 67 w 119"/>
                <a:gd name="T79" fmla="*/ 39 h 138"/>
                <a:gd name="T80" fmla="*/ 59 w 119"/>
                <a:gd name="T81" fmla="*/ 38 h 138"/>
                <a:gd name="T82" fmla="*/ 45 w 119"/>
                <a:gd name="T83" fmla="*/ 40 h 138"/>
                <a:gd name="T84" fmla="*/ 38 w 119"/>
                <a:gd name="T85" fmla="*/ 44 h 138"/>
                <a:gd name="T86" fmla="*/ 27 w 119"/>
                <a:gd name="T87" fmla="*/ 53 h 138"/>
                <a:gd name="T88" fmla="*/ 23 w 119"/>
                <a:gd name="T89" fmla="*/ 59 h 138"/>
                <a:gd name="T90" fmla="*/ 33 w 119"/>
                <a:gd name="T91" fmla="*/ 78 h 138"/>
                <a:gd name="T92" fmla="*/ 62 w 119"/>
                <a:gd name="T93" fmla="*/ 5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9" h="138">
                  <a:moveTo>
                    <a:pt x="37" y="79"/>
                  </a:moveTo>
                  <a:cubicBezTo>
                    <a:pt x="38" y="66"/>
                    <a:pt x="49" y="57"/>
                    <a:pt x="62" y="58"/>
                  </a:cubicBezTo>
                  <a:cubicBezTo>
                    <a:pt x="74" y="59"/>
                    <a:pt x="84" y="70"/>
                    <a:pt x="83" y="83"/>
                  </a:cubicBezTo>
                  <a:cubicBezTo>
                    <a:pt x="81" y="95"/>
                    <a:pt x="70" y="104"/>
                    <a:pt x="58" y="103"/>
                  </a:cubicBezTo>
                  <a:cubicBezTo>
                    <a:pt x="45" y="102"/>
                    <a:pt x="36" y="91"/>
                    <a:pt x="37" y="79"/>
                  </a:cubicBezTo>
                  <a:close/>
                  <a:moveTo>
                    <a:pt x="109" y="41"/>
                  </a:move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0" y="32"/>
                    <a:pt x="80" y="27"/>
                    <a:pt x="70" y="25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70" y="15"/>
                    <a:pt x="70" y="14"/>
                    <a:pt x="7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49" y="15"/>
                    <a:pt x="49" y="15"/>
                  </a:cubicBezTo>
                  <a:cubicBezTo>
                    <a:pt x="49" y="25"/>
                    <a:pt x="49" y="25"/>
                    <a:pt x="49" y="25"/>
                  </a:cubicBezTo>
                  <a:cubicBezTo>
                    <a:pt x="39" y="27"/>
                    <a:pt x="30" y="31"/>
                    <a:pt x="22" y="38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1" y="41"/>
                    <a:pt x="11" y="41"/>
                    <a:pt x="11" y="42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7" y="55"/>
                    <a:pt x="2" y="67"/>
                    <a:pt x="2" y="81"/>
                  </a:cubicBezTo>
                  <a:cubicBezTo>
                    <a:pt x="2" y="112"/>
                    <a:pt x="28" y="138"/>
                    <a:pt x="59" y="138"/>
                  </a:cubicBezTo>
                  <a:cubicBezTo>
                    <a:pt x="91" y="138"/>
                    <a:pt x="116" y="112"/>
                    <a:pt x="116" y="81"/>
                  </a:cubicBezTo>
                  <a:cubicBezTo>
                    <a:pt x="116" y="68"/>
                    <a:pt x="112" y="55"/>
                    <a:pt x="104" y="46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109" y="41"/>
                    <a:pt x="109" y="41"/>
                    <a:pt x="109" y="41"/>
                  </a:cubicBezTo>
                  <a:close/>
                  <a:moveTo>
                    <a:pt x="59" y="29"/>
                  </a:moveTo>
                  <a:cubicBezTo>
                    <a:pt x="31" y="29"/>
                    <a:pt x="8" y="52"/>
                    <a:pt x="8" y="81"/>
                  </a:cubicBezTo>
                  <a:cubicBezTo>
                    <a:pt x="8" y="109"/>
                    <a:pt x="31" y="133"/>
                    <a:pt x="59" y="133"/>
                  </a:cubicBezTo>
                  <a:cubicBezTo>
                    <a:pt x="88" y="133"/>
                    <a:pt x="111" y="109"/>
                    <a:pt x="111" y="81"/>
                  </a:cubicBezTo>
                  <a:cubicBezTo>
                    <a:pt x="111" y="52"/>
                    <a:pt x="88" y="29"/>
                    <a:pt x="59" y="29"/>
                  </a:cubicBezTo>
                  <a:close/>
                  <a:moveTo>
                    <a:pt x="119" y="35"/>
                  </a:moveTo>
                  <a:cubicBezTo>
                    <a:pt x="119" y="35"/>
                    <a:pt x="119" y="36"/>
                    <a:pt x="119" y="37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13" y="42"/>
                    <a:pt x="112" y="42"/>
                    <a:pt x="111" y="42"/>
                  </a:cubicBezTo>
                  <a:cubicBezTo>
                    <a:pt x="102" y="31"/>
                    <a:pt x="102" y="31"/>
                    <a:pt x="102" y="31"/>
                  </a:cubicBezTo>
                  <a:cubicBezTo>
                    <a:pt x="101" y="31"/>
                    <a:pt x="101" y="30"/>
                    <a:pt x="102" y="29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8" y="24"/>
                    <a:pt x="109" y="24"/>
                    <a:pt x="109" y="24"/>
                  </a:cubicBezTo>
                  <a:cubicBezTo>
                    <a:pt x="119" y="35"/>
                    <a:pt x="119" y="35"/>
                    <a:pt x="119" y="35"/>
                  </a:cubicBezTo>
                  <a:close/>
                  <a:moveTo>
                    <a:pt x="1" y="35"/>
                  </a:moveTo>
                  <a:cubicBezTo>
                    <a:pt x="11" y="25"/>
                    <a:pt x="11" y="25"/>
                    <a:pt x="11" y="25"/>
                  </a:cubicBezTo>
                  <a:cubicBezTo>
                    <a:pt x="11" y="24"/>
                    <a:pt x="12" y="24"/>
                    <a:pt x="13" y="25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30"/>
                    <a:pt x="19" y="31"/>
                    <a:pt x="18" y="3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8" y="43"/>
                    <a:pt x="7" y="43"/>
                    <a:pt x="6" y="42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0" y="36"/>
                    <a:pt x="1" y="35"/>
                  </a:cubicBezTo>
                  <a:close/>
                  <a:moveTo>
                    <a:pt x="42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9" y="0"/>
                    <a:pt x="79" y="1"/>
                    <a:pt x="79" y="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2"/>
                    <a:pt x="79" y="13"/>
                    <a:pt x="78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0" y="12"/>
                    <a:pt x="40" y="1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1"/>
                    <a:pt x="41" y="0"/>
                    <a:pt x="42" y="0"/>
                  </a:cubicBezTo>
                  <a:close/>
                  <a:moveTo>
                    <a:pt x="52" y="80"/>
                  </a:moveTo>
                  <a:cubicBezTo>
                    <a:pt x="52" y="84"/>
                    <a:pt x="55" y="87"/>
                    <a:pt x="59" y="88"/>
                  </a:cubicBezTo>
                  <a:cubicBezTo>
                    <a:pt x="63" y="88"/>
                    <a:pt x="66" y="85"/>
                    <a:pt x="67" y="81"/>
                  </a:cubicBezTo>
                  <a:cubicBezTo>
                    <a:pt x="67" y="77"/>
                    <a:pt x="64" y="74"/>
                    <a:pt x="60" y="73"/>
                  </a:cubicBezTo>
                  <a:cubicBezTo>
                    <a:pt x="56" y="73"/>
                    <a:pt x="53" y="76"/>
                    <a:pt x="52" y="80"/>
                  </a:cubicBezTo>
                  <a:close/>
                  <a:moveTo>
                    <a:pt x="24" y="72"/>
                  </a:moveTo>
                  <a:cubicBezTo>
                    <a:pt x="18" y="73"/>
                    <a:pt x="18" y="73"/>
                    <a:pt x="18" y="73"/>
                  </a:cubicBezTo>
                  <a:cubicBezTo>
                    <a:pt x="18" y="73"/>
                    <a:pt x="17" y="73"/>
                    <a:pt x="17" y="74"/>
                  </a:cubicBezTo>
                  <a:cubicBezTo>
                    <a:pt x="17" y="80"/>
                    <a:pt x="17" y="80"/>
                    <a:pt x="17" y="80"/>
                  </a:cubicBezTo>
                  <a:cubicBezTo>
                    <a:pt x="17" y="80"/>
                    <a:pt x="17" y="81"/>
                    <a:pt x="17" y="81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23" y="86"/>
                    <a:pt x="23" y="89"/>
                    <a:pt x="24" y="91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20" y="95"/>
                    <a:pt x="20" y="95"/>
                    <a:pt x="20" y="96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23" y="102"/>
                    <a:pt x="23" y="102"/>
                    <a:pt x="23" y="102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30" y="103"/>
                    <a:pt x="32" y="106"/>
                    <a:pt x="35" y="108"/>
                  </a:cubicBezTo>
                  <a:cubicBezTo>
                    <a:pt x="32" y="113"/>
                    <a:pt x="32" y="113"/>
                    <a:pt x="32" y="113"/>
                  </a:cubicBezTo>
                  <a:cubicBezTo>
                    <a:pt x="32" y="113"/>
                    <a:pt x="32" y="113"/>
                    <a:pt x="33" y="114"/>
                  </a:cubicBezTo>
                  <a:cubicBezTo>
                    <a:pt x="38" y="117"/>
                    <a:pt x="38" y="117"/>
                    <a:pt x="38" y="117"/>
                  </a:cubicBezTo>
                  <a:cubicBezTo>
                    <a:pt x="38" y="118"/>
                    <a:pt x="39" y="117"/>
                    <a:pt x="39" y="117"/>
                  </a:cubicBezTo>
                  <a:cubicBezTo>
                    <a:pt x="43" y="114"/>
                    <a:pt x="43" y="114"/>
                    <a:pt x="43" y="114"/>
                  </a:cubicBezTo>
                  <a:cubicBezTo>
                    <a:pt x="46" y="115"/>
                    <a:pt x="49" y="116"/>
                    <a:pt x="52" y="117"/>
                  </a:cubicBezTo>
                  <a:cubicBezTo>
                    <a:pt x="52" y="122"/>
                    <a:pt x="52" y="122"/>
                    <a:pt x="52" y="122"/>
                  </a:cubicBezTo>
                  <a:cubicBezTo>
                    <a:pt x="52" y="122"/>
                    <a:pt x="53" y="123"/>
                    <a:pt x="53" y="12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60" y="123"/>
                    <a:pt x="60" y="123"/>
                    <a:pt x="60" y="123"/>
                  </a:cubicBezTo>
                  <a:cubicBezTo>
                    <a:pt x="62" y="118"/>
                    <a:pt x="62" y="118"/>
                    <a:pt x="62" y="118"/>
                  </a:cubicBezTo>
                  <a:cubicBezTo>
                    <a:pt x="65" y="117"/>
                    <a:pt x="68" y="117"/>
                    <a:pt x="71" y="116"/>
                  </a:cubicBezTo>
                  <a:cubicBezTo>
                    <a:pt x="74" y="120"/>
                    <a:pt x="74" y="120"/>
                    <a:pt x="74" y="120"/>
                  </a:cubicBezTo>
                  <a:cubicBezTo>
                    <a:pt x="74" y="120"/>
                    <a:pt x="75" y="121"/>
                    <a:pt x="75" y="120"/>
                  </a:cubicBezTo>
                  <a:cubicBezTo>
                    <a:pt x="81" y="118"/>
                    <a:pt x="81" y="118"/>
                    <a:pt x="81" y="118"/>
                  </a:cubicBezTo>
                  <a:cubicBezTo>
                    <a:pt x="81" y="117"/>
                    <a:pt x="81" y="117"/>
                    <a:pt x="81" y="117"/>
                  </a:cubicBezTo>
                  <a:cubicBezTo>
                    <a:pt x="80" y="112"/>
                    <a:pt x="80" y="112"/>
                    <a:pt x="80" y="112"/>
                  </a:cubicBezTo>
                  <a:cubicBezTo>
                    <a:pt x="83" y="110"/>
                    <a:pt x="85" y="108"/>
                    <a:pt x="87" y="106"/>
                  </a:cubicBezTo>
                  <a:cubicBezTo>
                    <a:pt x="92" y="108"/>
                    <a:pt x="92" y="108"/>
                    <a:pt x="92" y="108"/>
                  </a:cubicBezTo>
                  <a:cubicBezTo>
                    <a:pt x="93" y="108"/>
                    <a:pt x="93" y="108"/>
                    <a:pt x="93" y="10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97" y="102"/>
                    <a:pt x="97" y="101"/>
                    <a:pt x="97" y="101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5" y="92"/>
                    <a:pt x="96" y="88"/>
                  </a:cubicBezTo>
                  <a:cubicBezTo>
                    <a:pt x="102" y="88"/>
                    <a:pt x="102" y="88"/>
                    <a:pt x="102" y="88"/>
                  </a:cubicBezTo>
                  <a:cubicBezTo>
                    <a:pt x="102" y="88"/>
                    <a:pt x="102" y="87"/>
                    <a:pt x="102" y="87"/>
                  </a:cubicBezTo>
                  <a:cubicBezTo>
                    <a:pt x="103" y="81"/>
                    <a:pt x="103" y="81"/>
                    <a:pt x="103" y="81"/>
                  </a:cubicBezTo>
                  <a:cubicBezTo>
                    <a:pt x="103" y="80"/>
                    <a:pt x="102" y="80"/>
                    <a:pt x="102" y="80"/>
                  </a:cubicBezTo>
                  <a:cubicBezTo>
                    <a:pt x="97" y="78"/>
                    <a:pt x="97" y="78"/>
                    <a:pt x="97" y="78"/>
                  </a:cubicBezTo>
                  <a:cubicBezTo>
                    <a:pt x="97" y="75"/>
                    <a:pt x="96" y="72"/>
                    <a:pt x="95" y="69"/>
                  </a:cubicBezTo>
                  <a:cubicBezTo>
                    <a:pt x="100" y="66"/>
                    <a:pt x="100" y="66"/>
                    <a:pt x="100" y="66"/>
                  </a:cubicBezTo>
                  <a:cubicBezTo>
                    <a:pt x="100" y="66"/>
                    <a:pt x="100" y="65"/>
                    <a:pt x="100" y="65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7" y="59"/>
                    <a:pt x="97" y="59"/>
                    <a:pt x="96" y="59"/>
                  </a:cubicBezTo>
                  <a:cubicBezTo>
                    <a:pt x="91" y="60"/>
                    <a:pt x="91" y="60"/>
                    <a:pt x="91" y="60"/>
                  </a:cubicBezTo>
                  <a:cubicBezTo>
                    <a:pt x="89" y="58"/>
                    <a:pt x="87" y="55"/>
                    <a:pt x="85" y="53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7"/>
                    <a:pt x="87" y="47"/>
                  </a:cubicBezTo>
                  <a:cubicBezTo>
                    <a:pt x="81" y="43"/>
                    <a:pt x="81" y="43"/>
                    <a:pt x="81" y="43"/>
                  </a:cubicBezTo>
                  <a:cubicBezTo>
                    <a:pt x="81" y="43"/>
                    <a:pt x="81" y="43"/>
                    <a:pt x="81" y="43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4" y="46"/>
                    <a:pt x="71" y="45"/>
                    <a:pt x="68" y="44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0" y="37"/>
                    <a:pt x="60" y="37"/>
                    <a:pt x="60" y="37"/>
                  </a:cubicBezTo>
                  <a:cubicBezTo>
                    <a:pt x="60" y="37"/>
                    <a:pt x="59" y="38"/>
                    <a:pt x="59" y="38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5" y="44"/>
                    <a:pt x="52" y="44"/>
                    <a:pt x="49" y="45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5" y="40"/>
                    <a:pt x="44" y="40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8" y="43"/>
                    <a:pt x="38" y="43"/>
                    <a:pt x="38" y="44"/>
                  </a:cubicBezTo>
                  <a:cubicBezTo>
                    <a:pt x="39" y="50"/>
                    <a:pt x="39" y="50"/>
                    <a:pt x="39" y="50"/>
                  </a:cubicBezTo>
                  <a:cubicBezTo>
                    <a:pt x="37" y="51"/>
                    <a:pt x="35" y="53"/>
                    <a:pt x="33" y="55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7" y="53"/>
                    <a:pt x="27" y="53"/>
                    <a:pt x="26" y="53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5" y="66"/>
                    <a:pt x="24" y="69"/>
                    <a:pt x="24" y="72"/>
                  </a:cubicBezTo>
                  <a:close/>
                  <a:moveTo>
                    <a:pt x="33" y="78"/>
                  </a:moveTo>
                  <a:cubicBezTo>
                    <a:pt x="32" y="93"/>
                    <a:pt x="43" y="106"/>
                    <a:pt x="58" y="107"/>
                  </a:cubicBezTo>
                  <a:cubicBezTo>
                    <a:pt x="72" y="109"/>
                    <a:pt x="85" y="98"/>
                    <a:pt x="87" y="83"/>
                  </a:cubicBezTo>
                  <a:cubicBezTo>
                    <a:pt x="88" y="68"/>
                    <a:pt x="77" y="55"/>
                    <a:pt x="62" y="54"/>
                  </a:cubicBezTo>
                  <a:cubicBezTo>
                    <a:pt x="47" y="53"/>
                    <a:pt x="34" y="64"/>
                    <a:pt x="33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形状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462256" y="2758352"/>
              <a:ext cx="311150" cy="323850"/>
            </a:xfrm>
            <a:custGeom>
              <a:avLst/>
              <a:gdLst>
                <a:gd name="T0" fmla="*/ 94 w 125"/>
                <a:gd name="T1" fmla="*/ 14 h 130"/>
                <a:gd name="T2" fmla="*/ 111 w 125"/>
                <a:gd name="T3" fmla="*/ 2 h 130"/>
                <a:gd name="T4" fmla="*/ 106 w 125"/>
                <a:gd name="T5" fmla="*/ 21 h 130"/>
                <a:gd name="T6" fmla="*/ 79 w 125"/>
                <a:gd name="T7" fmla="*/ 57 h 130"/>
                <a:gd name="T8" fmla="*/ 94 w 125"/>
                <a:gd name="T9" fmla="*/ 14 h 130"/>
                <a:gd name="T10" fmla="*/ 65 w 125"/>
                <a:gd name="T11" fmla="*/ 68 h 130"/>
                <a:gd name="T12" fmla="*/ 79 w 125"/>
                <a:gd name="T13" fmla="*/ 57 h 130"/>
                <a:gd name="T14" fmla="*/ 111 w 125"/>
                <a:gd name="T15" fmla="*/ 109 h 130"/>
                <a:gd name="T16" fmla="*/ 113 w 125"/>
                <a:gd name="T17" fmla="*/ 130 h 130"/>
                <a:gd name="T18" fmla="*/ 98 w 125"/>
                <a:gd name="T19" fmla="*/ 116 h 130"/>
                <a:gd name="T20" fmla="*/ 81 w 125"/>
                <a:gd name="T21" fmla="*/ 75 h 130"/>
                <a:gd name="T22" fmla="*/ 111 w 125"/>
                <a:gd name="T23" fmla="*/ 109 h 130"/>
                <a:gd name="T24" fmla="*/ 108 w 125"/>
                <a:gd name="T25" fmla="*/ 96 h 130"/>
                <a:gd name="T26" fmla="*/ 102 w 125"/>
                <a:gd name="T27" fmla="*/ 96 h 130"/>
                <a:gd name="T28" fmla="*/ 96 w 125"/>
                <a:gd name="T29" fmla="*/ 100 h 130"/>
                <a:gd name="T30" fmla="*/ 96 w 125"/>
                <a:gd name="T31" fmla="*/ 93 h 130"/>
                <a:gd name="T32" fmla="*/ 96 w 125"/>
                <a:gd name="T33" fmla="*/ 100 h 130"/>
                <a:gd name="T34" fmla="*/ 90 w 125"/>
                <a:gd name="T35" fmla="*/ 96 h 130"/>
                <a:gd name="T36" fmla="*/ 83 w 125"/>
                <a:gd name="T37" fmla="*/ 96 h 130"/>
                <a:gd name="T38" fmla="*/ 20 w 125"/>
                <a:gd name="T39" fmla="*/ 76 h 130"/>
                <a:gd name="T40" fmla="*/ 65 w 125"/>
                <a:gd name="T41" fmla="*/ 68 h 130"/>
                <a:gd name="T42" fmla="*/ 21 w 125"/>
                <a:gd name="T43" fmla="*/ 62 h 130"/>
                <a:gd name="T44" fmla="*/ 1 w 125"/>
                <a:gd name="T45" fmla="*/ 68 h 130"/>
                <a:gd name="T46" fmla="*/ 20 w 125"/>
                <a:gd name="T47" fmla="*/ 76 h 130"/>
                <a:gd name="T48" fmla="*/ 44 w 125"/>
                <a:gd name="T49" fmla="*/ 75 h 130"/>
                <a:gd name="T50" fmla="*/ 44 w 125"/>
                <a:gd name="T51" fmla="*/ 62 h 130"/>
                <a:gd name="T52" fmla="*/ 36 w 125"/>
                <a:gd name="T53" fmla="*/ 56 h 130"/>
                <a:gd name="T54" fmla="*/ 44 w 125"/>
                <a:gd name="T55" fmla="*/ 75 h 130"/>
                <a:gd name="T56" fmla="*/ 39 w 125"/>
                <a:gd name="T57" fmla="*/ 81 h 130"/>
                <a:gd name="T58" fmla="*/ 45 w 125"/>
                <a:gd name="T59" fmla="*/ 81 h 130"/>
                <a:gd name="T60" fmla="*/ 82 w 125"/>
                <a:gd name="T61" fmla="*/ 20 h 130"/>
                <a:gd name="T62" fmla="*/ 87 w 125"/>
                <a:gd name="T63" fmla="*/ 40 h 130"/>
                <a:gd name="T64" fmla="*/ 82 w 125"/>
                <a:gd name="T65" fmla="*/ 20 h 130"/>
                <a:gd name="T66" fmla="*/ 89 w 125"/>
                <a:gd name="T67" fmla="*/ 46 h 130"/>
                <a:gd name="T68" fmla="*/ 82 w 125"/>
                <a:gd name="T69" fmla="*/ 4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30">
                  <a:moveTo>
                    <a:pt x="94" y="14"/>
                  </a:moveTo>
                  <a:cubicBezTo>
                    <a:pt x="94" y="14"/>
                    <a:pt x="94" y="14"/>
                    <a:pt x="94" y="14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11" y="1"/>
                    <a:pt x="111" y="2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17" y="32"/>
                    <a:pt x="119" y="49"/>
                    <a:pt x="110" y="62"/>
                  </a:cubicBezTo>
                  <a:cubicBezTo>
                    <a:pt x="101" y="55"/>
                    <a:pt x="89" y="53"/>
                    <a:pt x="79" y="57"/>
                  </a:cubicBezTo>
                  <a:cubicBezTo>
                    <a:pt x="74" y="47"/>
                    <a:pt x="65" y="40"/>
                    <a:pt x="54" y="39"/>
                  </a:cubicBezTo>
                  <a:cubicBezTo>
                    <a:pt x="57" y="20"/>
                    <a:pt x="76" y="8"/>
                    <a:pt x="94" y="14"/>
                  </a:cubicBezTo>
                  <a:close/>
                  <a:moveTo>
                    <a:pt x="79" y="57"/>
                  </a:moveTo>
                  <a:cubicBezTo>
                    <a:pt x="73" y="59"/>
                    <a:pt x="69" y="63"/>
                    <a:pt x="65" y="68"/>
                  </a:cubicBezTo>
                  <a:cubicBezTo>
                    <a:pt x="70" y="71"/>
                    <a:pt x="75" y="74"/>
                    <a:pt x="81" y="74"/>
                  </a:cubicBezTo>
                  <a:cubicBezTo>
                    <a:pt x="82" y="69"/>
                    <a:pt x="81" y="63"/>
                    <a:pt x="79" y="57"/>
                  </a:cubicBezTo>
                  <a:close/>
                  <a:moveTo>
                    <a:pt x="111" y="109"/>
                  </a:moveTo>
                  <a:cubicBezTo>
                    <a:pt x="111" y="109"/>
                    <a:pt x="111" y="109"/>
                    <a:pt x="111" y="109"/>
                  </a:cubicBezTo>
                  <a:cubicBezTo>
                    <a:pt x="114" y="129"/>
                    <a:pt x="114" y="129"/>
                    <a:pt x="114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99" y="116"/>
                    <a:pt x="99" y="116"/>
                    <a:pt x="99" y="116"/>
                  </a:cubicBezTo>
                  <a:cubicBezTo>
                    <a:pt x="99" y="116"/>
                    <a:pt x="99" y="116"/>
                    <a:pt x="98" y="116"/>
                  </a:cubicBezTo>
                  <a:cubicBezTo>
                    <a:pt x="84" y="120"/>
                    <a:pt x="68" y="113"/>
                    <a:pt x="62" y="99"/>
                  </a:cubicBezTo>
                  <a:cubicBezTo>
                    <a:pt x="72" y="95"/>
                    <a:pt x="80" y="85"/>
                    <a:pt x="81" y="75"/>
                  </a:cubicBezTo>
                  <a:cubicBezTo>
                    <a:pt x="92" y="76"/>
                    <a:pt x="103" y="71"/>
                    <a:pt x="110" y="62"/>
                  </a:cubicBezTo>
                  <a:cubicBezTo>
                    <a:pt x="125" y="74"/>
                    <a:pt x="125" y="96"/>
                    <a:pt x="111" y="109"/>
                  </a:cubicBezTo>
                  <a:close/>
                  <a:moveTo>
                    <a:pt x="105" y="99"/>
                  </a:moveTo>
                  <a:cubicBezTo>
                    <a:pt x="107" y="99"/>
                    <a:pt x="108" y="98"/>
                    <a:pt x="108" y="96"/>
                  </a:cubicBezTo>
                  <a:cubicBezTo>
                    <a:pt x="108" y="94"/>
                    <a:pt x="107" y="93"/>
                    <a:pt x="105" y="93"/>
                  </a:cubicBezTo>
                  <a:cubicBezTo>
                    <a:pt x="103" y="93"/>
                    <a:pt x="102" y="94"/>
                    <a:pt x="102" y="96"/>
                  </a:cubicBezTo>
                  <a:cubicBezTo>
                    <a:pt x="102" y="98"/>
                    <a:pt x="103" y="99"/>
                    <a:pt x="105" y="99"/>
                  </a:cubicBezTo>
                  <a:close/>
                  <a:moveTo>
                    <a:pt x="96" y="100"/>
                  </a:moveTo>
                  <a:cubicBezTo>
                    <a:pt x="98" y="100"/>
                    <a:pt x="99" y="98"/>
                    <a:pt x="99" y="96"/>
                  </a:cubicBezTo>
                  <a:cubicBezTo>
                    <a:pt x="99" y="94"/>
                    <a:pt x="98" y="93"/>
                    <a:pt x="96" y="93"/>
                  </a:cubicBezTo>
                  <a:cubicBezTo>
                    <a:pt x="94" y="93"/>
                    <a:pt x="92" y="94"/>
                    <a:pt x="92" y="96"/>
                  </a:cubicBezTo>
                  <a:cubicBezTo>
                    <a:pt x="92" y="98"/>
                    <a:pt x="94" y="100"/>
                    <a:pt x="96" y="100"/>
                  </a:cubicBezTo>
                  <a:close/>
                  <a:moveTo>
                    <a:pt x="86" y="100"/>
                  </a:moveTo>
                  <a:cubicBezTo>
                    <a:pt x="88" y="100"/>
                    <a:pt x="90" y="98"/>
                    <a:pt x="90" y="96"/>
                  </a:cubicBezTo>
                  <a:cubicBezTo>
                    <a:pt x="90" y="94"/>
                    <a:pt x="88" y="93"/>
                    <a:pt x="86" y="93"/>
                  </a:cubicBezTo>
                  <a:cubicBezTo>
                    <a:pt x="85" y="93"/>
                    <a:pt x="83" y="94"/>
                    <a:pt x="83" y="96"/>
                  </a:cubicBezTo>
                  <a:cubicBezTo>
                    <a:pt x="83" y="98"/>
                    <a:pt x="84" y="100"/>
                    <a:pt x="86" y="100"/>
                  </a:cubicBezTo>
                  <a:close/>
                  <a:moveTo>
                    <a:pt x="20" y="76"/>
                  </a:moveTo>
                  <a:cubicBezTo>
                    <a:pt x="24" y="95"/>
                    <a:pt x="44" y="106"/>
                    <a:pt x="62" y="99"/>
                  </a:cubicBezTo>
                  <a:cubicBezTo>
                    <a:pt x="57" y="89"/>
                    <a:pt x="59" y="77"/>
                    <a:pt x="65" y="68"/>
                  </a:cubicBezTo>
                  <a:cubicBezTo>
                    <a:pt x="56" y="61"/>
                    <a:pt x="52" y="50"/>
                    <a:pt x="54" y="39"/>
                  </a:cubicBezTo>
                  <a:cubicBezTo>
                    <a:pt x="38" y="37"/>
                    <a:pt x="24" y="47"/>
                    <a:pt x="21" y="62"/>
                  </a:cubicBezTo>
                  <a:cubicBezTo>
                    <a:pt x="21" y="62"/>
                    <a:pt x="20" y="62"/>
                    <a:pt x="20" y="62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0" y="68"/>
                    <a:pt x="0" y="69"/>
                    <a:pt x="1" y="69"/>
                  </a:cubicBezTo>
                  <a:cubicBezTo>
                    <a:pt x="20" y="76"/>
                    <a:pt x="20" y="76"/>
                    <a:pt x="20" y="76"/>
                  </a:cubicBezTo>
                  <a:cubicBezTo>
                    <a:pt x="20" y="76"/>
                    <a:pt x="20" y="76"/>
                    <a:pt x="20" y="76"/>
                  </a:cubicBezTo>
                  <a:close/>
                  <a:moveTo>
                    <a:pt x="44" y="75"/>
                  </a:moveTo>
                  <a:cubicBezTo>
                    <a:pt x="40" y="75"/>
                    <a:pt x="40" y="75"/>
                    <a:pt x="40" y="75"/>
                  </a:cubicBezTo>
                  <a:cubicBezTo>
                    <a:pt x="39" y="68"/>
                    <a:pt x="44" y="66"/>
                    <a:pt x="44" y="62"/>
                  </a:cubicBezTo>
                  <a:cubicBezTo>
                    <a:pt x="44" y="58"/>
                    <a:pt x="40" y="59"/>
                    <a:pt x="37" y="60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41" y="54"/>
                    <a:pt x="50" y="54"/>
                    <a:pt x="50" y="61"/>
                  </a:cubicBezTo>
                  <a:cubicBezTo>
                    <a:pt x="50" y="67"/>
                    <a:pt x="44" y="68"/>
                    <a:pt x="44" y="75"/>
                  </a:cubicBezTo>
                  <a:close/>
                  <a:moveTo>
                    <a:pt x="42" y="84"/>
                  </a:moveTo>
                  <a:cubicBezTo>
                    <a:pt x="40" y="84"/>
                    <a:pt x="39" y="83"/>
                    <a:pt x="39" y="81"/>
                  </a:cubicBezTo>
                  <a:cubicBezTo>
                    <a:pt x="39" y="79"/>
                    <a:pt x="40" y="77"/>
                    <a:pt x="42" y="77"/>
                  </a:cubicBezTo>
                  <a:cubicBezTo>
                    <a:pt x="44" y="77"/>
                    <a:pt x="45" y="79"/>
                    <a:pt x="45" y="81"/>
                  </a:cubicBezTo>
                  <a:cubicBezTo>
                    <a:pt x="45" y="83"/>
                    <a:pt x="44" y="84"/>
                    <a:pt x="42" y="84"/>
                  </a:cubicBezTo>
                  <a:close/>
                  <a:moveTo>
                    <a:pt x="82" y="2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2" y="20"/>
                    <a:pt x="82" y="20"/>
                    <a:pt x="82" y="20"/>
                  </a:cubicBezTo>
                  <a:close/>
                  <a:moveTo>
                    <a:pt x="85" y="49"/>
                  </a:moveTo>
                  <a:cubicBezTo>
                    <a:pt x="87" y="49"/>
                    <a:pt x="89" y="48"/>
                    <a:pt x="89" y="46"/>
                  </a:cubicBezTo>
                  <a:cubicBezTo>
                    <a:pt x="89" y="44"/>
                    <a:pt x="87" y="42"/>
                    <a:pt x="85" y="42"/>
                  </a:cubicBezTo>
                  <a:cubicBezTo>
                    <a:pt x="83" y="42"/>
                    <a:pt x="82" y="44"/>
                    <a:pt x="82" y="46"/>
                  </a:cubicBezTo>
                  <a:cubicBezTo>
                    <a:pt x="82" y="48"/>
                    <a:pt x="83" y="49"/>
                    <a:pt x="85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936627" y="4176628"/>
              <a:ext cx="312738" cy="209551"/>
              <a:chOff x="7337426" y="4241800"/>
              <a:chExt cx="312738" cy="209551"/>
            </a:xfrm>
          </p:grpSpPr>
          <p:sp>
            <p:nvSpPr>
              <p:cNvPr id="24" name="Rectangle 24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7351714" y="4437063"/>
                <a:ext cx="288925" cy="14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457200"/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Freeform 25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7337426" y="4241800"/>
                <a:ext cx="312738" cy="107950"/>
              </a:xfrm>
              <a:custGeom>
                <a:avLst/>
                <a:gdLst>
                  <a:gd name="T0" fmla="*/ 177 w 197"/>
                  <a:gd name="T1" fmla="*/ 7 h 68"/>
                  <a:gd name="T2" fmla="*/ 180 w 197"/>
                  <a:gd name="T3" fmla="*/ 10 h 68"/>
                  <a:gd name="T4" fmla="*/ 119 w 197"/>
                  <a:gd name="T5" fmla="*/ 52 h 68"/>
                  <a:gd name="T6" fmla="*/ 83 w 197"/>
                  <a:gd name="T7" fmla="*/ 0 h 68"/>
                  <a:gd name="T8" fmla="*/ 0 w 197"/>
                  <a:gd name="T9" fmla="*/ 58 h 68"/>
                  <a:gd name="T10" fmla="*/ 0 w 197"/>
                  <a:gd name="T11" fmla="*/ 68 h 68"/>
                  <a:gd name="T12" fmla="*/ 81 w 197"/>
                  <a:gd name="T13" fmla="*/ 11 h 68"/>
                  <a:gd name="T14" fmla="*/ 117 w 197"/>
                  <a:gd name="T15" fmla="*/ 63 h 68"/>
                  <a:gd name="T16" fmla="*/ 185 w 197"/>
                  <a:gd name="T17" fmla="*/ 16 h 68"/>
                  <a:gd name="T18" fmla="*/ 188 w 197"/>
                  <a:gd name="T19" fmla="*/ 21 h 68"/>
                  <a:gd name="T20" fmla="*/ 197 w 197"/>
                  <a:gd name="T21" fmla="*/ 2 h 68"/>
                  <a:gd name="T22" fmla="*/ 177 w 197"/>
                  <a:gd name="T23" fmla="*/ 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7" h="68">
                    <a:moveTo>
                      <a:pt x="177" y="7"/>
                    </a:moveTo>
                    <a:lnTo>
                      <a:pt x="180" y="10"/>
                    </a:lnTo>
                    <a:lnTo>
                      <a:pt x="119" y="52"/>
                    </a:lnTo>
                    <a:lnTo>
                      <a:pt x="83" y="0"/>
                    </a:lnTo>
                    <a:lnTo>
                      <a:pt x="0" y="58"/>
                    </a:lnTo>
                    <a:lnTo>
                      <a:pt x="0" y="68"/>
                    </a:lnTo>
                    <a:lnTo>
                      <a:pt x="81" y="11"/>
                    </a:lnTo>
                    <a:lnTo>
                      <a:pt x="117" y="63"/>
                    </a:lnTo>
                    <a:lnTo>
                      <a:pt x="185" y="16"/>
                    </a:lnTo>
                    <a:lnTo>
                      <a:pt x="188" y="21"/>
                    </a:lnTo>
                    <a:lnTo>
                      <a:pt x="197" y="2"/>
                    </a:lnTo>
                    <a:lnTo>
                      <a:pt x="17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457200"/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Freeform 26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7354889" y="4314825"/>
                <a:ext cx="46038" cy="111125"/>
              </a:xfrm>
              <a:custGeom>
                <a:avLst/>
                <a:gdLst>
                  <a:gd name="T0" fmla="*/ 0 w 29"/>
                  <a:gd name="T1" fmla="*/ 70 h 70"/>
                  <a:gd name="T2" fmla="*/ 29 w 29"/>
                  <a:gd name="T3" fmla="*/ 70 h 70"/>
                  <a:gd name="T4" fmla="*/ 29 w 29"/>
                  <a:gd name="T5" fmla="*/ 0 h 70"/>
                  <a:gd name="T6" fmla="*/ 0 w 29"/>
                  <a:gd name="T7" fmla="*/ 20 h 70"/>
                  <a:gd name="T8" fmla="*/ 0 w 29"/>
                  <a:gd name="T9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70">
                    <a:moveTo>
                      <a:pt x="0" y="70"/>
                    </a:moveTo>
                    <a:lnTo>
                      <a:pt x="29" y="70"/>
                    </a:lnTo>
                    <a:lnTo>
                      <a:pt x="29" y="0"/>
                    </a:lnTo>
                    <a:lnTo>
                      <a:pt x="0" y="20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457200"/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Freeform 27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7585076" y="4284663"/>
                <a:ext cx="47625" cy="141288"/>
              </a:xfrm>
              <a:custGeom>
                <a:avLst/>
                <a:gdLst>
                  <a:gd name="T0" fmla="*/ 27 w 30"/>
                  <a:gd name="T1" fmla="*/ 0 h 89"/>
                  <a:gd name="T2" fmla="*/ 0 w 30"/>
                  <a:gd name="T3" fmla="*/ 19 h 89"/>
                  <a:gd name="T4" fmla="*/ 0 w 30"/>
                  <a:gd name="T5" fmla="*/ 89 h 89"/>
                  <a:gd name="T6" fmla="*/ 30 w 30"/>
                  <a:gd name="T7" fmla="*/ 89 h 89"/>
                  <a:gd name="T8" fmla="*/ 30 w 30"/>
                  <a:gd name="T9" fmla="*/ 5 h 89"/>
                  <a:gd name="T10" fmla="*/ 27 w 30"/>
                  <a:gd name="T1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89">
                    <a:moveTo>
                      <a:pt x="27" y="0"/>
                    </a:moveTo>
                    <a:lnTo>
                      <a:pt x="0" y="19"/>
                    </a:lnTo>
                    <a:lnTo>
                      <a:pt x="0" y="89"/>
                    </a:lnTo>
                    <a:lnTo>
                      <a:pt x="30" y="89"/>
                    </a:lnTo>
                    <a:lnTo>
                      <a:pt x="30" y="5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457200"/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Freeform 28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7526339" y="4316413"/>
                <a:ext cx="49213" cy="109538"/>
              </a:xfrm>
              <a:custGeom>
                <a:avLst/>
                <a:gdLst>
                  <a:gd name="T0" fmla="*/ 0 w 31"/>
                  <a:gd name="T1" fmla="*/ 22 h 69"/>
                  <a:gd name="T2" fmla="*/ 0 w 31"/>
                  <a:gd name="T3" fmla="*/ 69 h 69"/>
                  <a:gd name="T4" fmla="*/ 31 w 31"/>
                  <a:gd name="T5" fmla="*/ 69 h 69"/>
                  <a:gd name="T6" fmla="*/ 31 w 31"/>
                  <a:gd name="T7" fmla="*/ 0 h 69"/>
                  <a:gd name="T8" fmla="*/ 0 w 31"/>
                  <a:gd name="T9" fmla="*/ 22 h 69"/>
                  <a:gd name="T10" fmla="*/ 0 w 31"/>
                  <a:gd name="T11" fmla="*/ 2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69">
                    <a:moveTo>
                      <a:pt x="0" y="22"/>
                    </a:moveTo>
                    <a:lnTo>
                      <a:pt x="0" y="69"/>
                    </a:lnTo>
                    <a:lnTo>
                      <a:pt x="31" y="69"/>
                    </a:lnTo>
                    <a:lnTo>
                      <a:pt x="31" y="0"/>
                    </a:lnTo>
                    <a:lnTo>
                      <a:pt x="0" y="22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457200"/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Freeform 29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7412039" y="4275138"/>
                <a:ext cx="46038" cy="150813"/>
              </a:xfrm>
              <a:custGeom>
                <a:avLst/>
                <a:gdLst>
                  <a:gd name="T0" fmla="*/ 0 w 29"/>
                  <a:gd name="T1" fmla="*/ 22 h 95"/>
                  <a:gd name="T2" fmla="*/ 0 w 29"/>
                  <a:gd name="T3" fmla="*/ 95 h 95"/>
                  <a:gd name="T4" fmla="*/ 29 w 29"/>
                  <a:gd name="T5" fmla="*/ 95 h 95"/>
                  <a:gd name="T6" fmla="*/ 29 w 29"/>
                  <a:gd name="T7" fmla="*/ 0 h 95"/>
                  <a:gd name="T8" fmla="*/ 0 w 29"/>
                  <a:gd name="T9" fmla="*/ 22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95">
                    <a:moveTo>
                      <a:pt x="0" y="22"/>
                    </a:moveTo>
                    <a:lnTo>
                      <a:pt x="0" y="95"/>
                    </a:lnTo>
                    <a:lnTo>
                      <a:pt x="29" y="95"/>
                    </a:lnTo>
                    <a:lnTo>
                      <a:pt x="29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457200"/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Freeform 30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7469189" y="4281488"/>
                <a:ext cx="49213" cy="144463"/>
              </a:xfrm>
              <a:custGeom>
                <a:avLst/>
                <a:gdLst>
                  <a:gd name="T0" fmla="*/ 0 w 31"/>
                  <a:gd name="T1" fmla="*/ 0 h 91"/>
                  <a:gd name="T2" fmla="*/ 0 w 31"/>
                  <a:gd name="T3" fmla="*/ 91 h 91"/>
                  <a:gd name="T4" fmla="*/ 31 w 31"/>
                  <a:gd name="T5" fmla="*/ 91 h 91"/>
                  <a:gd name="T6" fmla="*/ 31 w 31"/>
                  <a:gd name="T7" fmla="*/ 44 h 91"/>
                  <a:gd name="T8" fmla="*/ 0 w 31"/>
                  <a:gd name="T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91">
                    <a:moveTo>
                      <a:pt x="0" y="0"/>
                    </a:moveTo>
                    <a:lnTo>
                      <a:pt x="0" y="91"/>
                    </a:lnTo>
                    <a:lnTo>
                      <a:pt x="31" y="91"/>
                    </a:lnTo>
                    <a:lnTo>
                      <a:pt x="31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457200"/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5872958" y="4822826"/>
              <a:ext cx="346075" cy="319088"/>
              <a:chOff x="5853114" y="5108575"/>
              <a:chExt cx="346075" cy="319088"/>
            </a:xfrm>
          </p:grpSpPr>
          <p:sp>
            <p:nvSpPr>
              <p:cNvPr id="23" name="形状"/>
              <p:cNvSpPr>
                <a:spLocks noEditPoint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5945189" y="5159375"/>
                <a:ext cx="136525" cy="215900"/>
              </a:xfrm>
              <a:custGeom>
                <a:avLst/>
                <a:gdLst>
                  <a:gd name="T0" fmla="*/ 42 w 55"/>
                  <a:gd name="T1" fmla="*/ 24 h 87"/>
                  <a:gd name="T2" fmla="*/ 31 w 55"/>
                  <a:gd name="T3" fmla="*/ 21 h 87"/>
                  <a:gd name="T4" fmla="*/ 31 w 55"/>
                  <a:gd name="T5" fmla="*/ 37 h 87"/>
                  <a:gd name="T6" fmla="*/ 33 w 55"/>
                  <a:gd name="T7" fmla="*/ 38 h 87"/>
                  <a:gd name="T8" fmla="*/ 42 w 55"/>
                  <a:gd name="T9" fmla="*/ 41 h 87"/>
                  <a:gd name="T10" fmla="*/ 53 w 55"/>
                  <a:gd name="T11" fmla="*/ 50 h 87"/>
                  <a:gd name="T12" fmla="*/ 53 w 55"/>
                  <a:gd name="T13" fmla="*/ 66 h 87"/>
                  <a:gd name="T14" fmla="*/ 32 w 55"/>
                  <a:gd name="T15" fmla="*/ 77 h 87"/>
                  <a:gd name="T16" fmla="*/ 32 w 55"/>
                  <a:gd name="T17" fmla="*/ 84 h 87"/>
                  <a:gd name="T18" fmla="*/ 29 w 55"/>
                  <a:gd name="T19" fmla="*/ 87 h 87"/>
                  <a:gd name="T20" fmla="*/ 29 w 55"/>
                  <a:gd name="T21" fmla="*/ 87 h 87"/>
                  <a:gd name="T22" fmla="*/ 26 w 55"/>
                  <a:gd name="T23" fmla="*/ 84 h 87"/>
                  <a:gd name="T24" fmla="*/ 26 w 55"/>
                  <a:gd name="T25" fmla="*/ 77 h 87"/>
                  <a:gd name="T26" fmla="*/ 7 w 55"/>
                  <a:gd name="T27" fmla="*/ 71 h 87"/>
                  <a:gd name="T28" fmla="*/ 13 w 55"/>
                  <a:gd name="T29" fmla="*/ 61 h 87"/>
                  <a:gd name="T30" fmla="*/ 27 w 55"/>
                  <a:gd name="T31" fmla="*/ 65 h 87"/>
                  <a:gd name="T32" fmla="*/ 27 w 55"/>
                  <a:gd name="T33" fmla="*/ 49 h 87"/>
                  <a:gd name="T34" fmla="*/ 15 w 55"/>
                  <a:gd name="T35" fmla="*/ 45 h 87"/>
                  <a:gd name="T36" fmla="*/ 5 w 55"/>
                  <a:gd name="T37" fmla="*/ 30 h 87"/>
                  <a:gd name="T38" fmla="*/ 18 w 55"/>
                  <a:gd name="T39" fmla="*/ 12 h 87"/>
                  <a:gd name="T40" fmla="*/ 26 w 55"/>
                  <a:gd name="T41" fmla="*/ 10 h 87"/>
                  <a:gd name="T42" fmla="*/ 26 w 55"/>
                  <a:gd name="T43" fmla="*/ 3 h 87"/>
                  <a:gd name="T44" fmla="*/ 29 w 55"/>
                  <a:gd name="T45" fmla="*/ 0 h 87"/>
                  <a:gd name="T46" fmla="*/ 29 w 55"/>
                  <a:gd name="T47" fmla="*/ 0 h 87"/>
                  <a:gd name="T48" fmla="*/ 32 w 55"/>
                  <a:gd name="T49" fmla="*/ 3 h 87"/>
                  <a:gd name="T50" fmla="*/ 32 w 55"/>
                  <a:gd name="T51" fmla="*/ 10 h 87"/>
                  <a:gd name="T52" fmla="*/ 47 w 55"/>
                  <a:gd name="T53" fmla="*/ 14 h 87"/>
                  <a:gd name="T54" fmla="*/ 49 w 55"/>
                  <a:gd name="T55" fmla="*/ 22 h 87"/>
                  <a:gd name="T56" fmla="*/ 42 w 55"/>
                  <a:gd name="T57" fmla="*/ 24 h 87"/>
                  <a:gd name="T58" fmla="*/ 18 w 55"/>
                  <a:gd name="T59" fmla="*/ 28 h 87"/>
                  <a:gd name="T60" fmla="*/ 20 w 55"/>
                  <a:gd name="T61" fmla="*/ 33 h 87"/>
                  <a:gd name="T62" fmla="*/ 27 w 55"/>
                  <a:gd name="T63" fmla="*/ 36 h 87"/>
                  <a:gd name="T64" fmla="*/ 27 w 55"/>
                  <a:gd name="T65" fmla="*/ 21 h 87"/>
                  <a:gd name="T66" fmla="*/ 18 w 55"/>
                  <a:gd name="T67" fmla="*/ 28 h 87"/>
                  <a:gd name="T68" fmla="*/ 41 w 55"/>
                  <a:gd name="T69" fmla="*/ 59 h 87"/>
                  <a:gd name="T70" fmla="*/ 38 w 55"/>
                  <a:gd name="T71" fmla="*/ 54 h 87"/>
                  <a:gd name="T72" fmla="*/ 31 w 55"/>
                  <a:gd name="T73" fmla="*/ 50 h 87"/>
                  <a:gd name="T74" fmla="*/ 31 w 55"/>
                  <a:gd name="T75" fmla="*/ 65 h 87"/>
                  <a:gd name="T76" fmla="*/ 41 w 55"/>
                  <a:gd name="T77" fmla="*/ 59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5" h="87">
                    <a:moveTo>
                      <a:pt x="42" y="24"/>
                    </a:moveTo>
                    <a:cubicBezTo>
                      <a:pt x="38" y="23"/>
                      <a:pt x="34" y="22"/>
                      <a:pt x="31" y="21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6" y="39"/>
                      <a:pt x="39" y="40"/>
                      <a:pt x="42" y="41"/>
                    </a:cubicBezTo>
                    <a:cubicBezTo>
                      <a:pt x="47" y="42"/>
                      <a:pt x="51" y="45"/>
                      <a:pt x="53" y="50"/>
                    </a:cubicBezTo>
                    <a:cubicBezTo>
                      <a:pt x="55" y="54"/>
                      <a:pt x="55" y="61"/>
                      <a:pt x="53" y="66"/>
                    </a:cubicBezTo>
                    <a:cubicBezTo>
                      <a:pt x="49" y="74"/>
                      <a:pt x="40" y="76"/>
                      <a:pt x="32" y="77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32" y="86"/>
                      <a:pt x="30" y="87"/>
                      <a:pt x="29" y="87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27" y="87"/>
                      <a:pt x="26" y="86"/>
                      <a:pt x="26" y="84"/>
                    </a:cubicBezTo>
                    <a:cubicBezTo>
                      <a:pt x="26" y="77"/>
                      <a:pt x="26" y="77"/>
                      <a:pt x="26" y="77"/>
                    </a:cubicBezTo>
                    <a:cubicBezTo>
                      <a:pt x="19" y="76"/>
                      <a:pt x="13" y="74"/>
                      <a:pt x="7" y="71"/>
                    </a:cubicBezTo>
                    <a:cubicBezTo>
                      <a:pt x="0" y="68"/>
                      <a:pt x="6" y="57"/>
                      <a:pt x="13" y="61"/>
                    </a:cubicBezTo>
                    <a:cubicBezTo>
                      <a:pt x="17" y="63"/>
                      <a:pt x="22" y="65"/>
                      <a:pt x="27" y="65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5" y="49"/>
                      <a:pt x="19" y="47"/>
                      <a:pt x="15" y="45"/>
                    </a:cubicBezTo>
                    <a:cubicBezTo>
                      <a:pt x="8" y="42"/>
                      <a:pt x="5" y="37"/>
                      <a:pt x="5" y="30"/>
                    </a:cubicBezTo>
                    <a:cubicBezTo>
                      <a:pt x="5" y="21"/>
                      <a:pt x="10" y="15"/>
                      <a:pt x="18" y="12"/>
                    </a:cubicBezTo>
                    <a:cubicBezTo>
                      <a:pt x="20" y="11"/>
                      <a:pt x="23" y="10"/>
                      <a:pt x="26" y="10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2"/>
                      <a:pt x="27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0"/>
                      <a:pt x="32" y="2"/>
                      <a:pt x="32" y="3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7" y="10"/>
                      <a:pt x="42" y="11"/>
                      <a:pt x="47" y="14"/>
                    </a:cubicBezTo>
                    <a:cubicBezTo>
                      <a:pt x="50" y="15"/>
                      <a:pt x="51" y="19"/>
                      <a:pt x="49" y="22"/>
                    </a:cubicBezTo>
                    <a:cubicBezTo>
                      <a:pt x="48" y="25"/>
                      <a:pt x="44" y="26"/>
                      <a:pt x="42" y="24"/>
                    </a:cubicBezTo>
                    <a:close/>
                    <a:moveTo>
                      <a:pt x="18" y="28"/>
                    </a:moveTo>
                    <a:cubicBezTo>
                      <a:pt x="18" y="30"/>
                      <a:pt x="19" y="32"/>
                      <a:pt x="20" y="33"/>
                    </a:cubicBezTo>
                    <a:cubicBezTo>
                      <a:pt x="22" y="34"/>
                      <a:pt x="24" y="35"/>
                      <a:pt x="27" y="36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1" y="21"/>
                      <a:pt x="18" y="24"/>
                      <a:pt x="18" y="28"/>
                    </a:cubicBezTo>
                    <a:close/>
                    <a:moveTo>
                      <a:pt x="41" y="59"/>
                    </a:moveTo>
                    <a:cubicBezTo>
                      <a:pt x="41" y="56"/>
                      <a:pt x="40" y="55"/>
                      <a:pt x="38" y="54"/>
                    </a:cubicBezTo>
                    <a:cubicBezTo>
                      <a:pt x="36" y="52"/>
                      <a:pt x="34" y="51"/>
                      <a:pt x="31" y="50"/>
                    </a:cubicBezTo>
                    <a:cubicBezTo>
                      <a:pt x="31" y="65"/>
                      <a:pt x="31" y="65"/>
                      <a:pt x="31" y="65"/>
                    </a:cubicBezTo>
                    <a:cubicBezTo>
                      <a:pt x="37" y="65"/>
                      <a:pt x="41" y="63"/>
                      <a:pt x="41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457200"/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2" name="形状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5853114" y="5108575"/>
                <a:ext cx="346075" cy="319088"/>
              </a:xfrm>
              <a:custGeom>
                <a:avLst/>
                <a:gdLst>
                  <a:gd name="T0" fmla="*/ 134 w 139"/>
                  <a:gd name="T1" fmla="*/ 49 h 128"/>
                  <a:gd name="T2" fmla="*/ 126 w 139"/>
                  <a:gd name="T3" fmla="*/ 49 h 128"/>
                  <a:gd name="T4" fmla="*/ 60 w 139"/>
                  <a:gd name="T5" fmla="*/ 3 h 128"/>
                  <a:gd name="T6" fmla="*/ 3 w 139"/>
                  <a:gd name="T7" fmla="*/ 60 h 128"/>
                  <a:gd name="T8" fmla="*/ 66 w 139"/>
                  <a:gd name="T9" fmla="*/ 128 h 128"/>
                  <a:gd name="T10" fmla="*/ 120 w 139"/>
                  <a:gd name="T11" fmla="*/ 96 h 128"/>
                  <a:gd name="T12" fmla="*/ 118 w 139"/>
                  <a:gd name="T13" fmla="*/ 90 h 128"/>
                  <a:gd name="T14" fmla="*/ 118 w 139"/>
                  <a:gd name="T15" fmla="*/ 90 h 128"/>
                  <a:gd name="T16" fmla="*/ 112 w 139"/>
                  <a:gd name="T17" fmla="*/ 92 h 128"/>
                  <a:gd name="T18" fmla="*/ 62 w 139"/>
                  <a:gd name="T19" fmla="*/ 118 h 128"/>
                  <a:gd name="T20" fmla="*/ 12 w 139"/>
                  <a:gd name="T21" fmla="*/ 69 h 128"/>
                  <a:gd name="T22" fmla="*/ 66 w 139"/>
                  <a:gd name="T23" fmla="*/ 12 h 128"/>
                  <a:gd name="T24" fmla="*/ 116 w 139"/>
                  <a:gd name="T25" fmla="*/ 49 h 128"/>
                  <a:gd name="T26" fmla="*/ 108 w 139"/>
                  <a:gd name="T27" fmla="*/ 49 h 128"/>
                  <a:gd name="T28" fmla="*/ 105 w 139"/>
                  <a:gd name="T29" fmla="*/ 55 h 128"/>
                  <a:gd name="T30" fmla="*/ 117 w 139"/>
                  <a:gd name="T31" fmla="*/ 75 h 128"/>
                  <a:gd name="T32" fmla="*/ 125 w 139"/>
                  <a:gd name="T33" fmla="*/ 75 h 128"/>
                  <a:gd name="T34" fmla="*/ 138 w 139"/>
                  <a:gd name="T35" fmla="*/ 55 h 128"/>
                  <a:gd name="T36" fmla="*/ 134 w 139"/>
                  <a:gd name="T37" fmla="*/ 49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9" h="128">
                    <a:moveTo>
                      <a:pt x="134" y="49"/>
                    </a:moveTo>
                    <a:cubicBezTo>
                      <a:pt x="126" y="49"/>
                      <a:pt x="126" y="49"/>
                      <a:pt x="126" y="49"/>
                    </a:cubicBezTo>
                    <a:cubicBezTo>
                      <a:pt x="118" y="20"/>
                      <a:pt x="91" y="0"/>
                      <a:pt x="60" y="3"/>
                    </a:cubicBezTo>
                    <a:cubicBezTo>
                      <a:pt x="30" y="5"/>
                      <a:pt x="5" y="30"/>
                      <a:pt x="3" y="60"/>
                    </a:cubicBezTo>
                    <a:cubicBezTo>
                      <a:pt x="0" y="97"/>
                      <a:pt x="30" y="128"/>
                      <a:pt x="66" y="128"/>
                    </a:cubicBezTo>
                    <a:cubicBezTo>
                      <a:pt x="89" y="128"/>
                      <a:pt x="109" y="115"/>
                      <a:pt x="120" y="96"/>
                    </a:cubicBezTo>
                    <a:cubicBezTo>
                      <a:pt x="121" y="94"/>
                      <a:pt x="120" y="91"/>
                      <a:pt x="118" y="90"/>
                    </a:cubicBezTo>
                    <a:cubicBezTo>
                      <a:pt x="118" y="90"/>
                      <a:pt x="118" y="90"/>
                      <a:pt x="118" y="90"/>
                    </a:cubicBezTo>
                    <a:cubicBezTo>
                      <a:pt x="116" y="89"/>
                      <a:pt x="113" y="90"/>
                      <a:pt x="112" y="92"/>
                    </a:cubicBezTo>
                    <a:cubicBezTo>
                      <a:pt x="102" y="109"/>
                      <a:pt x="83" y="120"/>
                      <a:pt x="62" y="118"/>
                    </a:cubicBezTo>
                    <a:cubicBezTo>
                      <a:pt x="36" y="116"/>
                      <a:pt x="14" y="95"/>
                      <a:pt x="12" y="69"/>
                    </a:cubicBezTo>
                    <a:cubicBezTo>
                      <a:pt x="10" y="38"/>
                      <a:pt x="35" y="12"/>
                      <a:pt x="66" y="12"/>
                    </a:cubicBezTo>
                    <a:cubicBezTo>
                      <a:pt x="89" y="12"/>
                      <a:pt x="110" y="27"/>
                      <a:pt x="116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5" y="49"/>
                      <a:pt x="103" y="52"/>
                      <a:pt x="105" y="55"/>
                    </a:cubicBezTo>
                    <a:cubicBezTo>
                      <a:pt x="117" y="75"/>
                      <a:pt x="117" y="75"/>
                      <a:pt x="117" y="75"/>
                    </a:cubicBezTo>
                    <a:cubicBezTo>
                      <a:pt x="119" y="78"/>
                      <a:pt x="123" y="78"/>
                      <a:pt x="125" y="7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39" y="52"/>
                      <a:pt x="137" y="49"/>
                      <a:pt x="134" y="4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457200"/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3" name="组合 52"/>
          <p:cNvGrpSpPr/>
          <p:nvPr>
            <p:custDataLst>
              <p:tags r:id="rId24"/>
            </p:custDataLst>
          </p:nvPr>
        </p:nvGrpSpPr>
        <p:grpSpPr>
          <a:xfrm>
            <a:off x="282240" y="4403975"/>
            <a:ext cx="4054475" cy="2286000"/>
            <a:chOff x="-632992" y="4320118"/>
            <a:chExt cx="4054475" cy="2286000"/>
          </a:xfrm>
        </p:grpSpPr>
        <p:sp>
          <p:nvSpPr>
            <p:cNvPr id="54" name="文本框 3"/>
            <p:cNvSpPr/>
            <p:nvPr>
              <p:custDataLst>
                <p:tags r:id="rId25"/>
              </p:custDataLst>
            </p:nvPr>
          </p:nvSpPr>
          <p:spPr>
            <a:xfrm>
              <a:off x="-632992" y="4668098"/>
              <a:ext cx="4054475" cy="1938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        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在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NHANES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测试集上，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通过</a:t>
              </a:r>
              <a:r>
                <a:rPr 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各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指标综合评估并比较各模型性能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。随后，将最优模型在独立的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CHARLS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队列中进行直接应用与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外部验证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，以严格检验其泛化能力与跨人群适用性。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5" name="文本框 3"/>
            <p:cNvSpPr txBox="1"/>
            <p:nvPr>
              <p:custDataLst>
                <p:tags r:id="rId26"/>
              </p:custDataLst>
            </p:nvPr>
          </p:nvSpPr>
          <p:spPr>
            <a:xfrm>
              <a:off x="190416" y="4320118"/>
              <a:ext cx="323088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三、模型的评估与外部验证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27"/>
            </p:custDataLst>
          </p:nvPr>
        </p:nvGrpSpPr>
        <p:grpSpPr>
          <a:xfrm>
            <a:off x="7701695" y="4461125"/>
            <a:ext cx="4378960" cy="1916430"/>
            <a:chOff x="9009925" y="3508367"/>
            <a:chExt cx="4378960" cy="1916430"/>
          </a:xfrm>
        </p:grpSpPr>
        <p:sp>
          <p:nvSpPr>
            <p:cNvPr id="57" name="文本框 3"/>
            <p:cNvSpPr/>
            <p:nvPr>
              <p:custDataLst>
                <p:tags r:id="rId28"/>
              </p:custDataLst>
            </p:nvPr>
          </p:nvSpPr>
          <p:spPr>
            <a:xfrm>
              <a:off x="9009925" y="3856347"/>
              <a:ext cx="4378960" cy="1568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本研究将采用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SHAP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等方法，深入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分析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GLM7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各指标在模型中的贡献度与方向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，从而揭示模型决策机制、提升其透明度，并为结果的临床解读提供依据。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8" name="文本框 3"/>
            <p:cNvSpPr txBox="1"/>
            <p:nvPr>
              <p:custDataLst>
                <p:tags r:id="rId29"/>
              </p:custDataLst>
            </p:nvPr>
          </p:nvSpPr>
          <p:spPr>
            <a:xfrm>
              <a:off x="9009925" y="3508367"/>
              <a:ext cx="246888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四、模型解释性分析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30"/>
            </p:custDataLst>
          </p:nvPr>
        </p:nvGrpSpPr>
        <p:grpSpPr>
          <a:xfrm>
            <a:off x="420971" y="1665021"/>
            <a:ext cx="4415410" cy="1916430"/>
            <a:chOff x="-627793" y="2789065"/>
            <a:chExt cx="4415410" cy="1916430"/>
          </a:xfrm>
        </p:grpSpPr>
        <p:sp>
          <p:nvSpPr>
            <p:cNvPr id="60" name="文本框 3"/>
            <p:cNvSpPr/>
            <p:nvPr>
              <p:custDataLst>
                <p:tags r:id="rId31"/>
              </p:custDataLst>
            </p:nvPr>
          </p:nvSpPr>
          <p:spPr>
            <a:xfrm>
              <a:off x="-627793" y="3137045"/>
              <a:ext cx="3869690" cy="1568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        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本研究将基于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NHANES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CHARLS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数据库，通过计算与分析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GLM7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指标，验证其与多种慢性病及其共病的关联强度，并最终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确定其风险预警阈值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3"/>
            <p:cNvSpPr txBox="1"/>
            <p:nvPr>
              <p:custDataLst>
                <p:tags r:id="rId32"/>
              </p:custDataLst>
            </p:nvPr>
          </p:nvSpPr>
          <p:spPr>
            <a:xfrm>
              <a:off x="359887" y="2789065"/>
              <a:ext cx="342773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一、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GLM7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指标的计算与验证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33"/>
            </p:custDataLst>
          </p:nvPr>
        </p:nvGrpSpPr>
        <p:grpSpPr>
          <a:xfrm>
            <a:off x="7440710" y="1596442"/>
            <a:ext cx="4783455" cy="2286000"/>
            <a:chOff x="8714650" y="2076618"/>
            <a:chExt cx="4783455" cy="2286000"/>
          </a:xfrm>
        </p:grpSpPr>
        <p:sp>
          <p:nvSpPr>
            <p:cNvPr id="63" name="文本框 3"/>
            <p:cNvSpPr/>
            <p:nvPr>
              <p:custDataLst>
                <p:tags r:id="rId34"/>
              </p:custDataLst>
            </p:nvPr>
          </p:nvSpPr>
          <p:spPr>
            <a:xfrm>
              <a:off x="8998495" y="2424598"/>
              <a:ext cx="4499610" cy="1938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        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本研究基于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GLM7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指标与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NHANES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队列，首先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复现文献基线模型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，进而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通过特征工程与多种机器学习算法进行系统对比与优化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，并采用交叉验证与网格搜索调优，旨在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构建预测性能更优的慢性病及共病风险模型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4" name="文本框 3"/>
            <p:cNvSpPr txBox="1"/>
            <p:nvPr>
              <p:custDataLst>
                <p:tags r:id="rId35"/>
              </p:custDataLst>
            </p:nvPr>
          </p:nvSpPr>
          <p:spPr>
            <a:xfrm>
              <a:off x="8714650" y="2076618"/>
              <a:ext cx="450088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二、多病种风险预测模型的构建与优化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71550" cy="1163868"/>
            <a:chOff x="0" y="0"/>
            <a:chExt cx="6116470" cy="7327220"/>
          </a:xfrm>
        </p:grpSpPr>
        <p:sp>
          <p:nvSpPr>
            <p:cNvPr id="3" name="Freeform 22"/>
            <p:cNvSpPr/>
            <p:nvPr/>
          </p:nvSpPr>
          <p:spPr>
            <a:xfrm rot="584957">
              <a:off x="537093" y="591927"/>
              <a:ext cx="4967412" cy="6735293"/>
            </a:xfrm>
            <a:custGeom>
              <a:avLst/>
              <a:gdLst>
                <a:gd name="connsiteX0" fmla="*/ 0 w 4967412"/>
                <a:gd name="connsiteY0" fmla="*/ 0 h 6735293"/>
                <a:gd name="connsiteX1" fmla="*/ 4967412 w 4967412"/>
                <a:gd name="connsiteY1" fmla="*/ 0 h 6735293"/>
                <a:gd name="connsiteX2" fmla="*/ 4555063 w 4967412"/>
                <a:gd name="connsiteY2" fmla="*/ 128938 h 6735293"/>
                <a:gd name="connsiteX3" fmla="*/ 101259 w 4967412"/>
                <a:gd name="connsiteY3" fmla="*/ 6262544 h 6735293"/>
                <a:gd name="connsiteX4" fmla="*/ 47842 w 4967412"/>
                <a:gd name="connsiteY4" fmla="*/ 6727073 h 6735293"/>
                <a:gd name="connsiteX5" fmla="*/ 0 w 4967412"/>
                <a:gd name="connsiteY5" fmla="*/ 6735293 h 673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7412" h="6735293">
                  <a:moveTo>
                    <a:pt x="0" y="0"/>
                  </a:moveTo>
                  <a:lnTo>
                    <a:pt x="4967412" y="0"/>
                  </a:lnTo>
                  <a:lnTo>
                    <a:pt x="4555063" y="128938"/>
                  </a:lnTo>
                  <a:cubicBezTo>
                    <a:pt x="2271342" y="992714"/>
                    <a:pt x="528975" y="3350710"/>
                    <a:pt x="101259" y="6262544"/>
                  </a:cubicBezTo>
                  <a:lnTo>
                    <a:pt x="47842" y="6727073"/>
                  </a:lnTo>
                  <a:lnTo>
                    <a:pt x="0" y="6735293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21"/>
            <p:cNvSpPr/>
            <p:nvPr/>
          </p:nvSpPr>
          <p:spPr>
            <a:xfrm>
              <a:off x="0" y="0"/>
              <a:ext cx="6116470" cy="6858000"/>
            </a:xfrm>
            <a:custGeom>
              <a:avLst/>
              <a:gdLst>
                <a:gd name="connsiteX0" fmla="*/ 0 w 6116470"/>
                <a:gd name="connsiteY0" fmla="*/ 0 h 6858000"/>
                <a:gd name="connsiteX1" fmla="*/ 6116470 w 6116470"/>
                <a:gd name="connsiteY1" fmla="*/ 0 h 6858000"/>
                <a:gd name="connsiteX2" fmla="*/ 5608736 w 6116470"/>
                <a:gd name="connsiteY2" fmla="*/ 130556 h 6858000"/>
                <a:gd name="connsiteX3" fmla="*/ 77448 w 6116470"/>
                <a:gd name="connsiteY3" fmla="*/ 6637800 h 6858000"/>
                <a:gd name="connsiteX4" fmla="*/ 50872 w 6116470"/>
                <a:gd name="connsiteY4" fmla="*/ 6858000 h 6858000"/>
                <a:gd name="connsiteX5" fmla="*/ 0 w 6116470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6470" h="6858000">
                  <a:moveTo>
                    <a:pt x="0" y="0"/>
                  </a:moveTo>
                  <a:lnTo>
                    <a:pt x="6116470" y="0"/>
                  </a:lnTo>
                  <a:lnTo>
                    <a:pt x="5608736" y="130556"/>
                  </a:lnTo>
                  <a:cubicBezTo>
                    <a:pt x="2703014" y="1034325"/>
                    <a:pt x="509051" y="3553609"/>
                    <a:pt x="77448" y="6637800"/>
                  </a:cubicBezTo>
                  <a:lnTo>
                    <a:pt x="508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679" y="261579"/>
            <a:ext cx="3332174" cy="7207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162552" tIns="81276" rIns="162552" bIns="81276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533" normalizeH="0" baseline="0" noProof="0" dirty="0">
                <a:ln>
                  <a:noFill/>
                </a:ln>
                <a:solidFill>
                  <a:srgbClr val="BE1A30"/>
                </a:solidFill>
                <a:effectLst/>
                <a:uLnTx/>
                <a:uFillTx/>
                <a:cs typeface="+mn-ea"/>
                <a:sym typeface="+mn-lt"/>
              </a:rPr>
              <a:t>研究方案</a:t>
            </a:r>
            <a:endParaRPr kumimoji="0" lang="zh-CN" altLang="en-US" sz="2800" b="1" i="0" u="none" strike="noStrike" kern="0" cap="none" spc="533" normalizeH="0" baseline="0" noProof="0" dirty="0">
              <a:ln>
                <a:noFill/>
              </a:ln>
              <a:solidFill>
                <a:srgbClr val="BE1A3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5" name="图片 4" descr="873273db52a549bea545c7fc253ad1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1711325"/>
            <a:ext cx="11906885" cy="5146675"/>
          </a:xfrm>
          <a:prstGeom prst="rect">
            <a:avLst/>
          </a:prstGeom>
        </p:spPr>
      </p:pic>
      <p:sp>
        <p:nvSpPr>
          <p:cNvPr id="39" name="文本框 3"/>
          <p:cNvSpPr txBox="1"/>
          <p:nvPr>
            <p:custDataLst>
              <p:tags r:id="rId2"/>
            </p:custDataLst>
          </p:nvPr>
        </p:nvSpPr>
        <p:spPr>
          <a:xfrm>
            <a:off x="1229581" y="1312596"/>
            <a:ext cx="103143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本研究的技术路线如图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所示，严格遵循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训练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验证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的独立框架，确保模型评估的严谨性。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71550" cy="1163868"/>
            <a:chOff x="0" y="0"/>
            <a:chExt cx="6116470" cy="7327220"/>
          </a:xfrm>
        </p:grpSpPr>
        <p:sp>
          <p:nvSpPr>
            <p:cNvPr id="3" name="Freeform 22"/>
            <p:cNvSpPr/>
            <p:nvPr/>
          </p:nvSpPr>
          <p:spPr>
            <a:xfrm rot="584957">
              <a:off x="537093" y="591927"/>
              <a:ext cx="4967412" cy="6735293"/>
            </a:xfrm>
            <a:custGeom>
              <a:avLst/>
              <a:gdLst>
                <a:gd name="connsiteX0" fmla="*/ 0 w 4967412"/>
                <a:gd name="connsiteY0" fmla="*/ 0 h 6735293"/>
                <a:gd name="connsiteX1" fmla="*/ 4967412 w 4967412"/>
                <a:gd name="connsiteY1" fmla="*/ 0 h 6735293"/>
                <a:gd name="connsiteX2" fmla="*/ 4555063 w 4967412"/>
                <a:gd name="connsiteY2" fmla="*/ 128938 h 6735293"/>
                <a:gd name="connsiteX3" fmla="*/ 101259 w 4967412"/>
                <a:gd name="connsiteY3" fmla="*/ 6262544 h 6735293"/>
                <a:gd name="connsiteX4" fmla="*/ 47842 w 4967412"/>
                <a:gd name="connsiteY4" fmla="*/ 6727073 h 6735293"/>
                <a:gd name="connsiteX5" fmla="*/ 0 w 4967412"/>
                <a:gd name="connsiteY5" fmla="*/ 6735293 h 673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7412" h="6735293">
                  <a:moveTo>
                    <a:pt x="0" y="0"/>
                  </a:moveTo>
                  <a:lnTo>
                    <a:pt x="4967412" y="0"/>
                  </a:lnTo>
                  <a:lnTo>
                    <a:pt x="4555063" y="128938"/>
                  </a:lnTo>
                  <a:cubicBezTo>
                    <a:pt x="2271342" y="992714"/>
                    <a:pt x="528975" y="3350710"/>
                    <a:pt x="101259" y="6262544"/>
                  </a:cubicBezTo>
                  <a:lnTo>
                    <a:pt x="47842" y="6727073"/>
                  </a:lnTo>
                  <a:lnTo>
                    <a:pt x="0" y="6735293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21"/>
            <p:cNvSpPr/>
            <p:nvPr/>
          </p:nvSpPr>
          <p:spPr>
            <a:xfrm>
              <a:off x="0" y="0"/>
              <a:ext cx="6116470" cy="6858000"/>
            </a:xfrm>
            <a:custGeom>
              <a:avLst/>
              <a:gdLst>
                <a:gd name="connsiteX0" fmla="*/ 0 w 6116470"/>
                <a:gd name="connsiteY0" fmla="*/ 0 h 6858000"/>
                <a:gd name="connsiteX1" fmla="*/ 6116470 w 6116470"/>
                <a:gd name="connsiteY1" fmla="*/ 0 h 6858000"/>
                <a:gd name="connsiteX2" fmla="*/ 5608736 w 6116470"/>
                <a:gd name="connsiteY2" fmla="*/ 130556 h 6858000"/>
                <a:gd name="connsiteX3" fmla="*/ 77448 w 6116470"/>
                <a:gd name="connsiteY3" fmla="*/ 6637800 h 6858000"/>
                <a:gd name="connsiteX4" fmla="*/ 50872 w 6116470"/>
                <a:gd name="connsiteY4" fmla="*/ 6858000 h 6858000"/>
                <a:gd name="connsiteX5" fmla="*/ 0 w 6116470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6470" h="6858000">
                  <a:moveTo>
                    <a:pt x="0" y="0"/>
                  </a:moveTo>
                  <a:lnTo>
                    <a:pt x="6116470" y="0"/>
                  </a:lnTo>
                  <a:lnTo>
                    <a:pt x="5608736" y="130556"/>
                  </a:lnTo>
                  <a:cubicBezTo>
                    <a:pt x="2703014" y="1034325"/>
                    <a:pt x="509051" y="3553609"/>
                    <a:pt x="77448" y="6637800"/>
                  </a:cubicBezTo>
                  <a:lnTo>
                    <a:pt x="508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640" y="261620"/>
            <a:ext cx="5767705" cy="7207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162552" tIns="81276" rIns="162552" bIns="81276">
            <a:spAutoFit/>
          </a:bodyPr>
          <a:lstStyle/>
          <a:p>
            <a:pPr lvl="0" defTabSz="1219200">
              <a:lnSpc>
                <a:spcPct val="130000"/>
              </a:lnSpc>
              <a:defRPr/>
            </a:pPr>
            <a:r>
              <a:rPr lang="zh-CN" altLang="en-US" sz="2800" b="1" kern="0" spc="533" dirty="0">
                <a:solidFill>
                  <a:srgbClr val="BE1A30"/>
                </a:solidFill>
                <a:cs typeface="+mn-ea"/>
                <a:sym typeface="+mn-lt"/>
              </a:rPr>
              <a:t>研究方案：数据来源与处理</a:t>
            </a:r>
            <a:endParaRPr lang="zh-CN" altLang="en-US" sz="2800" b="1" kern="0" spc="533" dirty="0">
              <a:solidFill>
                <a:srgbClr val="BE1A30"/>
              </a:solidFill>
              <a:cs typeface="+mn-ea"/>
              <a:sym typeface="+mn-lt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" y="1761490"/>
            <a:ext cx="11585575" cy="1774190"/>
          </a:xfrm>
          <a:prstGeom prst="rect">
            <a:avLst/>
          </a:prstGeom>
        </p:spPr>
      </p:pic>
      <p:sp>
        <p:nvSpPr>
          <p:cNvPr id="56" name="矩形: 圆角 55"/>
          <p:cNvSpPr/>
          <p:nvPr/>
        </p:nvSpPr>
        <p:spPr>
          <a:xfrm>
            <a:off x="352348" y="1137730"/>
            <a:ext cx="217399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数据来源</a:t>
            </a:r>
            <a:endParaRPr lang="zh-CN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sp>
        <p:nvSpPr>
          <p:cNvPr id="44" name="矩形: 圆角 55"/>
          <p:cNvSpPr/>
          <p:nvPr/>
        </p:nvSpPr>
        <p:spPr>
          <a:xfrm>
            <a:off x="352348" y="3691065"/>
            <a:ext cx="217399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核心变量</a:t>
            </a:r>
            <a:endParaRPr lang="zh-CN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2"/>
            </p:custDataLst>
          </p:nvPr>
        </p:nvSpPr>
        <p:spPr>
          <a:xfrm>
            <a:off x="524510" y="4231005"/>
            <a:ext cx="10539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预测因子：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GLM7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七项指标（年龄、胰岛素、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LDL-C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TyG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TyG-BMI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结局变量：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四种慢性病（心血管疾病、糖尿病、肝病、癌症）及其共病状态。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矩形: 圆角 55"/>
          <p:cNvSpPr/>
          <p:nvPr/>
        </p:nvSpPr>
        <p:spPr>
          <a:xfrm>
            <a:off x="351713" y="5270310"/>
            <a:ext cx="217399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核心变量</a:t>
            </a:r>
            <a:endParaRPr lang="zh-CN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3"/>
            </p:custDataLst>
          </p:nvPr>
        </p:nvSpPr>
        <p:spPr>
          <a:xfrm>
            <a:off x="537210" y="5961380"/>
            <a:ext cx="10539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数据处理：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缺失值处理、异常值处理、人群划分（训练集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70%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，测试集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30%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44" grpId="0" bldLvl="0" animBg="1"/>
      <p:bldP spid="4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71550" cy="1163868"/>
            <a:chOff x="0" y="0"/>
            <a:chExt cx="6116470" cy="7327220"/>
          </a:xfrm>
        </p:grpSpPr>
        <p:sp>
          <p:nvSpPr>
            <p:cNvPr id="3" name="Freeform 22"/>
            <p:cNvSpPr/>
            <p:nvPr/>
          </p:nvSpPr>
          <p:spPr>
            <a:xfrm rot="584957">
              <a:off x="537093" y="591927"/>
              <a:ext cx="4967412" cy="6735293"/>
            </a:xfrm>
            <a:custGeom>
              <a:avLst/>
              <a:gdLst>
                <a:gd name="connsiteX0" fmla="*/ 0 w 4967412"/>
                <a:gd name="connsiteY0" fmla="*/ 0 h 6735293"/>
                <a:gd name="connsiteX1" fmla="*/ 4967412 w 4967412"/>
                <a:gd name="connsiteY1" fmla="*/ 0 h 6735293"/>
                <a:gd name="connsiteX2" fmla="*/ 4555063 w 4967412"/>
                <a:gd name="connsiteY2" fmla="*/ 128938 h 6735293"/>
                <a:gd name="connsiteX3" fmla="*/ 101259 w 4967412"/>
                <a:gd name="connsiteY3" fmla="*/ 6262544 h 6735293"/>
                <a:gd name="connsiteX4" fmla="*/ 47842 w 4967412"/>
                <a:gd name="connsiteY4" fmla="*/ 6727073 h 6735293"/>
                <a:gd name="connsiteX5" fmla="*/ 0 w 4967412"/>
                <a:gd name="connsiteY5" fmla="*/ 6735293 h 673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7412" h="6735293">
                  <a:moveTo>
                    <a:pt x="0" y="0"/>
                  </a:moveTo>
                  <a:lnTo>
                    <a:pt x="4967412" y="0"/>
                  </a:lnTo>
                  <a:lnTo>
                    <a:pt x="4555063" y="128938"/>
                  </a:lnTo>
                  <a:cubicBezTo>
                    <a:pt x="2271342" y="992714"/>
                    <a:pt x="528975" y="3350710"/>
                    <a:pt x="101259" y="6262544"/>
                  </a:cubicBezTo>
                  <a:lnTo>
                    <a:pt x="47842" y="6727073"/>
                  </a:lnTo>
                  <a:lnTo>
                    <a:pt x="0" y="6735293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21"/>
            <p:cNvSpPr/>
            <p:nvPr/>
          </p:nvSpPr>
          <p:spPr>
            <a:xfrm>
              <a:off x="0" y="0"/>
              <a:ext cx="6116470" cy="6858000"/>
            </a:xfrm>
            <a:custGeom>
              <a:avLst/>
              <a:gdLst>
                <a:gd name="connsiteX0" fmla="*/ 0 w 6116470"/>
                <a:gd name="connsiteY0" fmla="*/ 0 h 6858000"/>
                <a:gd name="connsiteX1" fmla="*/ 6116470 w 6116470"/>
                <a:gd name="connsiteY1" fmla="*/ 0 h 6858000"/>
                <a:gd name="connsiteX2" fmla="*/ 5608736 w 6116470"/>
                <a:gd name="connsiteY2" fmla="*/ 130556 h 6858000"/>
                <a:gd name="connsiteX3" fmla="*/ 77448 w 6116470"/>
                <a:gd name="connsiteY3" fmla="*/ 6637800 h 6858000"/>
                <a:gd name="connsiteX4" fmla="*/ 50872 w 6116470"/>
                <a:gd name="connsiteY4" fmla="*/ 6858000 h 6858000"/>
                <a:gd name="connsiteX5" fmla="*/ 0 w 6116470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6470" h="6858000">
                  <a:moveTo>
                    <a:pt x="0" y="0"/>
                  </a:moveTo>
                  <a:lnTo>
                    <a:pt x="6116470" y="0"/>
                  </a:lnTo>
                  <a:lnTo>
                    <a:pt x="5608736" y="130556"/>
                  </a:lnTo>
                  <a:cubicBezTo>
                    <a:pt x="2703014" y="1034325"/>
                    <a:pt x="509051" y="3553609"/>
                    <a:pt x="77448" y="6637800"/>
                  </a:cubicBezTo>
                  <a:lnTo>
                    <a:pt x="508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640" y="261620"/>
            <a:ext cx="8976360" cy="7207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162552" tIns="81276" rIns="162552" bIns="81276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spc="533" noProof="0" dirty="0">
                <a:ln>
                  <a:noFill/>
                </a:ln>
                <a:solidFill>
                  <a:srgbClr val="BE1A30"/>
                </a:solidFill>
                <a:effectLst/>
                <a:uLnTx/>
                <a:uFillTx/>
                <a:cs typeface="+mn-ea"/>
                <a:sym typeface="+mn-lt"/>
              </a:rPr>
              <a:t>研究方案：模型构建与验证方法</a:t>
            </a:r>
            <a:endParaRPr lang="zh-CN" altLang="en-US" sz="2800" b="1" kern="0" spc="533" dirty="0">
              <a:solidFill>
                <a:srgbClr val="BE1A30"/>
              </a:solidFill>
              <a:cs typeface="+mn-ea"/>
              <a:sym typeface="+mn-lt"/>
            </a:endParaRPr>
          </a:p>
        </p:txBody>
      </p:sp>
      <p:sp>
        <p:nvSpPr>
          <p:cNvPr id="56" name="矩形: 圆角 55"/>
          <p:cNvSpPr/>
          <p:nvPr>
            <p:custDataLst>
              <p:tags r:id="rId1"/>
            </p:custDataLst>
          </p:nvPr>
        </p:nvSpPr>
        <p:spPr>
          <a:xfrm>
            <a:off x="352348" y="1434910"/>
            <a:ext cx="217399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模型构建策略</a:t>
            </a:r>
            <a:endParaRPr lang="zh-CN" altLang="en-US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sp>
        <p:nvSpPr>
          <p:cNvPr id="44" name="矩形: 圆角 55"/>
          <p:cNvSpPr/>
          <p:nvPr>
            <p:custDataLst>
              <p:tags r:id="rId2"/>
            </p:custDataLst>
          </p:nvPr>
        </p:nvSpPr>
        <p:spPr>
          <a:xfrm>
            <a:off x="352348" y="3745040"/>
            <a:ext cx="217399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模型评估指标</a:t>
            </a:r>
            <a:endParaRPr lang="zh-CN" altLang="en-US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3"/>
            </p:custDataLst>
          </p:nvPr>
        </p:nvSpPr>
        <p:spPr>
          <a:xfrm>
            <a:off x="537210" y="4510405"/>
            <a:ext cx="10539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核心性能指标：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AUC-ROC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综合分类指标：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四种慢性病（心血管疾病、糖尿病、肝病、癌症）及其共病状态。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评估曲线：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ROC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曲线、校准曲线、决策曲线。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模型解释：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工具进行特征重要性可视化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37210" y="2138680"/>
            <a:ext cx="10539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基线模型：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复现文献方法。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优化对比：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引入特征工程（非线性、交互项）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多种机器学习算法对比（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LR, SVM, RF, XGBoost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超参数调优：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网格搜索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交叉验证。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4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71550" cy="1163868"/>
            <a:chOff x="0" y="0"/>
            <a:chExt cx="6116470" cy="7327220"/>
          </a:xfrm>
        </p:grpSpPr>
        <p:sp>
          <p:nvSpPr>
            <p:cNvPr id="3" name="Freeform 22"/>
            <p:cNvSpPr/>
            <p:nvPr/>
          </p:nvSpPr>
          <p:spPr>
            <a:xfrm rot="584957">
              <a:off x="537093" y="591927"/>
              <a:ext cx="4967412" cy="6735293"/>
            </a:xfrm>
            <a:custGeom>
              <a:avLst/>
              <a:gdLst>
                <a:gd name="connsiteX0" fmla="*/ 0 w 4967412"/>
                <a:gd name="connsiteY0" fmla="*/ 0 h 6735293"/>
                <a:gd name="connsiteX1" fmla="*/ 4967412 w 4967412"/>
                <a:gd name="connsiteY1" fmla="*/ 0 h 6735293"/>
                <a:gd name="connsiteX2" fmla="*/ 4555063 w 4967412"/>
                <a:gd name="connsiteY2" fmla="*/ 128938 h 6735293"/>
                <a:gd name="connsiteX3" fmla="*/ 101259 w 4967412"/>
                <a:gd name="connsiteY3" fmla="*/ 6262544 h 6735293"/>
                <a:gd name="connsiteX4" fmla="*/ 47842 w 4967412"/>
                <a:gd name="connsiteY4" fmla="*/ 6727073 h 6735293"/>
                <a:gd name="connsiteX5" fmla="*/ 0 w 4967412"/>
                <a:gd name="connsiteY5" fmla="*/ 6735293 h 673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7412" h="6735293">
                  <a:moveTo>
                    <a:pt x="0" y="0"/>
                  </a:moveTo>
                  <a:lnTo>
                    <a:pt x="4967412" y="0"/>
                  </a:lnTo>
                  <a:lnTo>
                    <a:pt x="4555063" y="128938"/>
                  </a:lnTo>
                  <a:cubicBezTo>
                    <a:pt x="2271342" y="992714"/>
                    <a:pt x="528975" y="3350710"/>
                    <a:pt x="101259" y="6262544"/>
                  </a:cubicBezTo>
                  <a:lnTo>
                    <a:pt x="47842" y="6727073"/>
                  </a:lnTo>
                  <a:lnTo>
                    <a:pt x="0" y="6735293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21"/>
            <p:cNvSpPr/>
            <p:nvPr/>
          </p:nvSpPr>
          <p:spPr>
            <a:xfrm>
              <a:off x="0" y="0"/>
              <a:ext cx="6116470" cy="6858000"/>
            </a:xfrm>
            <a:custGeom>
              <a:avLst/>
              <a:gdLst>
                <a:gd name="connsiteX0" fmla="*/ 0 w 6116470"/>
                <a:gd name="connsiteY0" fmla="*/ 0 h 6858000"/>
                <a:gd name="connsiteX1" fmla="*/ 6116470 w 6116470"/>
                <a:gd name="connsiteY1" fmla="*/ 0 h 6858000"/>
                <a:gd name="connsiteX2" fmla="*/ 5608736 w 6116470"/>
                <a:gd name="connsiteY2" fmla="*/ 130556 h 6858000"/>
                <a:gd name="connsiteX3" fmla="*/ 77448 w 6116470"/>
                <a:gd name="connsiteY3" fmla="*/ 6637800 h 6858000"/>
                <a:gd name="connsiteX4" fmla="*/ 50872 w 6116470"/>
                <a:gd name="connsiteY4" fmla="*/ 6858000 h 6858000"/>
                <a:gd name="connsiteX5" fmla="*/ 0 w 6116470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6470" h="6858000">
                  <a:moveTo>
                    <a:pt x="0" y="0"/>
                  </a:moveTo>
                  <a:lnTo>
                    <a:pt x="6116470" y="0"/>
                  </a:lnTo>
                  <a:lnTo>
                    <a:pt x="5608736" y="130556"/>
                  </a:lnTo>
                  <a:cubicBezTo>
                    <a:pt x="2703014" y="1034325"/>
                    <a:pt x="509051" y="3553609"/>
                    <a:pt x="77448" y="6637800"/>
                  </a:cubicBezTo>
                  <a:lnTo>
                    <a:pt x="508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640" y="261620"/>
            <a:ext cx="7280910" cy="7207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162552" tIns="81276" rIns="162552" bIns="81276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533" normalizeH="0" baseline="0" noProof="0" dirty="0">
                <a:ln>
                  <a:noFill/>
                </a:ln>
                <a:solidFill>
                  <a:srgbClr val="BE1A30"/>
                </a:solidFill>
                <a:effectLst/>
                <a:uLnTx/>
                <a:uFillTx/>
                <a:cs typeface="+mn-ea"/>
                <a:sym typeface="+mn-lt"/>
              </a:rPr>
              <a:t>研究方案：系统开发</a:t>
            </a:r>
            <a:endParaRPr kumimoji="0" lang="zh-CN" altLang="en-US" sz="2800" b="1" i="0" u="none" strike="noStrike" kern="0" cap="none" spc="533" normalizeH="0" baseline="0" noProof="0" dirty="0">
              <a:ln>
                <a:noFill/>
              </a:ln>
              <a:solidFill>
                <a:srgbClr val="BE1A3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文本框 3"/>
          <p:cNvSpPr txBox="1"/>
          <p:nvPr>
            <p:custDataLst>
              <p:tags r:id="rId1"/>
            </p:custDataLst>
          </p:nvPr>
        </p:nvSpPr>
        <p:spPr>
          <a:xfrm>
            <a:off x="421640" y="1492885"/>
            <a:ext cx="102838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为确保研究成果的可访问性与可验证性，将基于最终验证的最优模型，开发一个轻量级的慢性病共病风险预测系统原型，选用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Python Streamlit 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库进行高效、集成的开发。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6" name="矩形: 圆角 55"/>
          <p:cNvSpPr/>
          <p:nvPr>
            <p:custDataLst>
              <p:tags r:id="rId2"/>
            </p:custDataLst>
          </p:nvPr>
        </p:nvSpPr>
        <p:spPr>
          <a:xfrm>
            <a:off x="421563" y="2534730"/>
            <a:ext cx="217399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核心功能</a:t>
            </a:r>
            <a:endParaRPr lang="zh-CN" altLang="en-US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3"/>
            </p:custDataLst>
          </p:nvPr>
        </p:nvSpPr>
        <p:spPr>
          <a:xfrm>
            <a:off x="421640" y="3338195"/>
            <a:ext cx="10516870" cy="2580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数据输入：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构建表单页面，供用户输入计算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GLM7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所需的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项基础生理与实验室指标。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实时预测：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后台集成已训练好的最优预测模型及数据处理代码。用户提交数据后，系统自动完成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GLM7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指标计算并调用模型，实时返回多种慢性病及其共病的综合风险概率。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结果解释：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等可解释性方法，在结果页面可视化展示各指标对当前预测的具体贡献（如通过条形图或瀑布图），从而将模型的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黑箱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决策转化为直观的风险解读。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71550" cy="1163868"/>
            <a:chOff x="0" y="0"/>
            <a:chExt cx="6116470" cy="7327220"/>
          </a:xfrm>
        </p:grpSpPr>
        <p:sp>
          <p:nvSpPr>
            <p:cNvPr id="3" name="Freeform 22"/>
            <p:cNvSpPr/>
            <p:nvPr/>
          </p:nvSpPr>
          <p:spPr>
            <a:xfrm rot="584957">
              <a:off x="537093" y="591927"/>
              <a:ext cx="4967412" cy="6735293"/>
            </a:xfrm>
            <a:custGeom>
              <a:avLst/>
              <a:gdLst>
                <a:gd name="connsiteX0" fmla="*/ 0 w 4967412"/>
                <a:gd name="connsiteY0" fmla="*/ 0 h 6735293"/>
                <a:gd name="connsiteX1" fmla="*/ 4967412 w 4967412"/>
                <a:gd name="connsiteY1" fmla="*/ 0 h 6735293"/>
                <a:gd name="connsiteX2" fmla="*/ 4555063 w 4967412"/>
                <a:gd name="connsiteY2" fmla="*/ 128938 h 6735293"/>
                <a:gd name="connsiteX3" fmla="*/ 101259 w 4967412"/>
                <a:gd name="connsiteY3" fmla="*/ 6262544 h 6735293"/>
                <a:gd name="connsiteX4" fmla="*/ 47842 w 4967412"/>
                <a:gd name="connsiteY4" fmla="*/ 6727073 h 6735293"/>
                <a:gd name="connsiteX5" fmla="*/ 0 w 4967412"/>
                <a:gd name="connsiteY5" fmla="*/ 6735293 h 673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7412" h="6735293">
                  <a:moveTo>
                    <a:pt x="0" y="0"/>
                  </a:moveTo>
                  <a:lnTo>
                    <a:pt x="4967412" y="0"/>
                  </a:lnTo>
                  <a:lnTo>
                    <a:pt x="4555063" y="128938"/>
                  </a:lnTo>
                  <a:cubicBezTo>
                    <a:pt x="2271342" y="992714"/>
                    <a:pt x="528975" y="3350710"/>
                    <a:pt x="101259" y="6262544"/>
                  </a:cubicBezTo>
                  <a:lnTo>
                    <a:pt x="47842" y="6727073"/>
                  </a:lnTo>
                  <a:lnTo>
                    <a:pt x="0" y="6735293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21"/>
            <p:cNvSpPr/>
            <p:nvPr/>
          </p:nvSpPr>
          <p:spPr>
            <a:xfrm>
              <a:off x="0" y="0"/>
              <a:ext cx="6116470" cy="6858000"/>
            </a:xfrm>
            <a:custGeom>
              <a:avLst/>
              <a:gdLst>
                <a:gd name="connsiteX0" fmla="*/ 0 w 6116470"/>
                <a:gd name="connsiteY0" fmla="*/ 0 h 6858000"/>
                <a:gd name="connsiteX1" fmla="*/ 6116470 w 6116470"/>
                <a:gd name="connsiteY1" fmla="*/ 0 h 6858000"/>
                <a:gd name="connsiteX2" fmla="*/ 5608736 w 6116470"/>
                <a:gd name="connsiteY2" fmla="*/ 130556 h 6858000"/>
                <a:gd name="connsiteX3" fmla="*/ 77448 w 6116470"/>
                <a:gd name="connsiteY3" fmla="*/ 6637800 h 6858000"/>
                <a:gd name="connsiteX4" fmla="*/ 50872 w 6116470"/>
                <a:gd name="connsiteY4" fmla="*/ 6858000 h 6858000"/>
                <a:gd name="connsiteX5" fmla="*/ 0 w 6116470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6470" h="6858000">
                  <a:moveTo>
                    <a:pt x="0" y="0"/>
                  </a:moveTo>
                  <a:lnTo>
                    <a:pt x="6116470" y="0"/>
                  </a:lnTo>
                  <a:lnTo>
                    <a:pt x="5608736" y="130556"/>
                  </a:lnTo>
                  <a:cubicBezTo>
                    <a:pt x="2703014" y="1034325"/>
                    <a:pt x="509051" y="3553609"/>
                    <a:pt x="77448" y="6637800"/>
                  </a:cubicBezTo>
                  <a:lnTo>
                    <a:pt x="508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640" y="261620"/>
            <a:ext cx="7280910" cy="7207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162552" tIns="81276" rIns="162552" bIns="81276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533" normalizeH="0" baseline="0" noProof="0" dirty="0">
                <a:ln>
                  <a:noFill/>
                </a:ln>
                <a:solidFill>
                  <a:srgbClr val="BE1A30"/>
                </a:solidFill>
                <a:effectLst/>
                <a:uLnTx/>
                <a:uFillTx/>
                <a:cs typeface="+mn-ea"/>
                <a:sym typeface="+mn-lt"/>
              </a:rPr>
              <a:t>研究方案：系统开发</a:t>
            </a:r>
            <a:endParaRPr kumimoji="0" lang="zh-CN" altLang="en-US" sz="2800" b="1" i="0" u="none" strike="noStrike" kern="0" cap="none" spc="533" normalizeH="0" baseline="0" noProof="0" dirty="0">
              <a:ln>
                <a:noFill/>
              </a:ln>
              <a:solidFill>
                <a:srgbClr val="BE1A3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1527810"/>
            <a:ext cx="8498205" cy="5029200"/>
          </a:xfrm>
          <a:prstGeom prst="rect">
            <a:avLst/>
          </a:prstGeom>
        </p:spPr>
      </p:pic>
      <p:sp>
        <p:nvSpPr>
          <p:cNvPr id="11" name="任意多边形: 形状 10"/>
          <p:cNvSpPr/>
          <p:nvPr/>
        </p:nvSpPr>
        <p:spPr>
          <a:xfrm flipH="1" flipV="1">
            <a:off x="4143528" y="-2196531"/>
            <a:ext cx="8048471" cy="9054530"/>
          </a:xfrm>
          <a:custGeom>
            <a:avLst/>
            <a:gdLst>
              <a:gd name="connsiteX0" fmla="*/ 0 w 6096000"/>
              <a:gd name="connsiteY0" fmla="*/ 6857999 h 6858000"/>
              <a:gd name="connsiteX1" fmla="*/ 6096000 w 6096000"/>
              <a:gd name="connsiteY1" fmla="*/ 6857999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5" fmla="*/ 3428959 w 6096000"/>
              <a:gd name="connsiteY5" fmla="*/ 0 h 6858000"/>
              <a:gd name="connsiteX6" fmla="*/ 3252544 w 6096000"/>
              <a:gd name="connsiteY6" fmla="*/ 4461 h 6858000"/>
              <a:gd name="connsiteX7" fmla="*/ 17703 w 6096000"/>
              <a:gd name="connsiteY7" fmla="*/ 3078404 h 6858000"/>
              <a:gd name="connsiteX8" fmla="*/ 0 w 6096000"/>
              <a:gd name="connsiteY8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6857999"/>
                </a:moveTo>
                <a:lnTo>
                  <a:pt x="6096000" y="6857999"/>
                </a:lnTo>
                <a:lnTo>
                  <a:pt x="6096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rgbClr val="ED1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任意多边形: 形状 18"/>
          <p:cNvSpPr/>
          <p:nvPr/>
        </p:nvSpPr>
        <p:spPr>
          <a:xfrm flipH="1" flipV="1">
            <a:off x="8358385" y="2545185"/>
            <a:ext cx="3833612" cy="4312813"/>
          </a:xfrm>
          <a:custGeom>
            <a:avLst/>
            <a:gdLst>
              <a:gd name="connsiteX0" fmla="*/ 0 w 6096000"/>
              <a:gd name="connsiteY0" fmla="*/ 6857999 h 6858000"/>
              <a:gd name="connsiteX1" fmla="*/ 6096000 w 6096000"/>
              <a:gd name="connsiteY1" fmla="*/ 6857999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5" fmla="*/ 3428959 w 6096000"/>
              <a:gd name="connsiteY5" fmla="*/ 0 h 6858000"/>
              <a:gd name="connsiteX6" fmla="*/ 3252544 w 6096000"/>
              <a:gd name="connsiteY6" fmla="*/ 4461 h 6858000"/>
              <a:gd name="connsiteX7" fmla="*/ 17703 w 6096000"/>
              <a:gd name="connsiteY7" fmla="*/ 3078404 h 6858000"/>
              <a:gd name="connsiteX8" fmla="*/ 0 w 6096000"/>
              <a:gd name="connsiteY8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6857999"/>
                </a:moveTo>
                <a:lnTo>
                  <a:pt x="6096000" y="6857999"/>
                </a:lnTo>
                <a:lnTo>
                  <a:pt x="6096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rgbClr val="282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文本框 3"/>
          <p:cNvSpPr txBox="1"/>
          <p:nvPr>
            <p:custDataLst>
              <p:tags r:id="rId2"/>
            </p:custDataLst>
          </p:nvPr>
        </p:nvSpPr>
        <p:spPr>
          <a:xfrm>
            <a:off x="688340" y="982345"/>
            <a:ext cx="102838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系统功能简要示意图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532200" y="-695992"/>
            <a:ext cx="1127599" cy="541247"/>
            <a:chOff x="6141343" y="952029"/>
            <a:chExt cx="1800200" cy="864096"/>
          </a:xfrm>
        </p:grpSpPr>
        <p:sp>
          <p:nvSpPr>
            <p:cNvPr id="7" name="椭圆 6"/>
            <p:cNvSpPr/>
            <p:nvPr/>
          </p:nvSpPr>
          <p:spPr bwMode="auto">
            <a:xfrm>
              <a:off x="6141343" y="952029"/>
              <a:ext cx="864096" cy="864096"/>
            </a:xfrm>
            <a:prstGeom prst="ellipse">
              <a:avLst/>
            </a:prstGeom>
            <a:solidFill>
              <a:srgbClr val="ED1B34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7077447" y="952029"/>
              <a:ext cx="864096" cy="864096"/>
            </a:xfrm>
            <a:prstGeom prst="ellipse">
              <a:avLst/>
            </a:prstGeom>
            <a:solidFill>
              <a:srgbClr val="282F39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 flipH="1" flipV="1">
            <a:off x="1652336" y="-4999122"/>
            <a:ext cx="10539664" cy="11857122"/>
            <a:chOff x="-1" y="0"/>
            <a:chExt cx="7982857" cy="8980714"/>
          </a:xfrm>
        </p:grpSpPr>
        <p:sp>
          <p:nvSpPr>
            <p:cNvPr id="17" name="任意多边形: 形状 16"/>
            <p:cNvSpPr/>
            <p:nvPr/>
          </p:nvSpPr>
          <p:spPr>
            <a:xfrm>
              <a:off x="-1" y="0"/>
              <a:ext cx="7982857" cy="8980714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1"/>
              <a:ext cx="6096000" cy="6858000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ED1B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" y="1"/>
              <a:ext cx="2903620" cy="3266572"/>
            </a:xfrm>
            <a:custGeom>
              <a:avLst/>
              <a:gdLst>
                <a:gd name="connsiteX0" fmla="*/ 0 w 6096000"/>
                <a:gd name="connsiteY0" fmla="*/ 6857999 h 6858000"/>
                <a:gd name="connsiteX1" fmla="*/ 6096000 w 6096000"/>
                <a:gd name="connsiteY1" fmla="*/ 6857999 h 6858000"/>
                <a:gd name="connsiteX2" fmla="*/ 6096000 w 6096000"/>
                <a:gd name="connsiteY2" fmla="*/ 6858000 h 6858000"/>
                <a:gd name="connsiteX3" fmla="*/ 0 w 6096000"/>
                <a:gd name="connsiteY3" fmla="*/ 6858000 h 6858000"/>
                <a:gd name="connsiteX4" fmla="*/ 0 w 6096000"/>
                <a:gd name="connsiteY4" fmla="*/ 0 h 6858000"/>
                <a:gd name="connsiteX5" fmla="*/ 3428959 w 6096000"/>
                <a:gd name="connsiteY5" fmla="*/ 0 h 6858000"/>
                <a:gd name="connsiteX6" fmla="*/ 3252544 w 6096000"/>
                <a:gd name="connsiteY6" fmla="*/ 4461 h 6858000"/>
                <a:gd name="connsiteX7" fmla="*/ 17703 w 6096000"/>
                <a:gd name="connsiteY7" fmla="*/ 3078404 h 6858000"/>
                <a:gd name="connsiteX8" fmla="*/ 0 w 6096000"/>
                <a:gd name="connsiteY8" fmla="*/ 342897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6858000">
                  <a:moveTo>
                    <a:pt x="0" y="6857999"/>
                  </a:moveTo>
                  <a:lnTo>
                    <a:pt x="6096000" y="6857999"/>
                  </a:lnTo>
                  <a:lnTo>
                    <a:pt x="6096000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3428959" y="0"/>
                  </a:lnTo>
                  <a:lnTo>
                    <a:pt x="3252544" y="4461"/>
                  </a:lnTo>
                  <a:cubicBezTo>
                    <a:pt x="1557652" y="90375"/>
                    <a:pt x="187448" y="1406947"/>
                    <a:pt x="17703" y="3078404"/>
                  </a:cubicBezTo>
                  <a:lnTo>
                    <a:pt x="0" y="3428978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5" b="15214"/>
          <a:stretch>
            <a:fillRect/>
          </a:stretch>
        </p:blipFill>
        <p:spPr>
          <a:xfrm>
            <a:off x="197552" y="128338"/>
            <a:ext cx="3507170" cy="2470483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172857" y="1497438"/>
            <a:ext cx="1846286" cy="1621435"/>
            <a:chOff x="5285283" y="1369102"/>
            <a:chExt cx="1846286" cy="1621435"/>
          </a:xfrm>
        </p:grpSpPr>
        <p:sp>
          <p:nvSpPr>
            <p:cNvPr id="12" name="菱形 11"/>
            <p:cNvSpPr/>
            <p:nvPr/>
          </p:nvSpPr>
          <p:spPr>
            <a:xfrm>
              <a:off x="5510134" y="1369102"/>
              <a:ext cx="1621435" cy="1621435"/>
            </a:xfrm>
            <a:prstGeom prst="diamond">
              <a:avLst/>
            </a:prstGeom>
            <a:noFill/>
            <a:ln>
              <a:solidFill>
                <a:srgbClr val="BE1A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菱形 12"/>
            <p:cNvSpPr/>
            <p:nvPr/>
          </p:nvSpPr>
          <p:spPr>
            <a:xfrm>
              <a:off x="5285283" y="1369102"/>
              <a:ext cx="1621435" cy="1621435"/>
            </a:xfrm>
            <a:prstGeom prst="diamond">
              <a:avLst/>
            </a:pr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590654" y="1671988"/>
              <a:ext cx="1040670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04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3418840" y="3338195"/>
            <a:ext cx="557974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4800" b="1" kern="0">
                <a:solidFill>
                  <a:srgbClr val="BE1A3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预期成果与创新点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/>
          <p:cNvSpPr/>
          <p:nvPr/>
        </p:nvSpPr>
        <p:spPr>
          <a:xfrm>
            <a:off x="137160" y="152400"/>
            <a:ext cx="11902440" cy="6477000"/>
          </a:xfrm>
          <a:prstGeom prst="roundRect">
            <a:avLst>
              <a:gd name="adj" fmla="val 937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71550" cy="1163868"/>
            <a:chOff x="0" y="0"/>
            <a:chExt cx="6116470" cy="7327220"/>
          </a:xfrm>
        </p:grpSpPr>
        <p:sp>
          <p:nvSpPr>
            <p:cNvPr id="3" name="Freeform 22"/>
            <p:cNvSpPr/>
            <p:nvPr/>
          </p:nvSpPr>
          <p:spPr>
            <a:xfrm rot="584957">
              <a:off x="537093" y="591927"/>
              <a:ext cx="4967412" cy="6735293"/>
            </a:xfrm>
            <a:custGeom>
              <a:avLst/>
              <a:gdLst>
                <a:gd name="connsiteX0" fmla="*/ 0 w 4967412"/>
                <a:gd name="connsiteY0" fmla="*/ 0 h 6735293"/>
                <a:gd name="connsiteX1" fmla="*/ 4967412 w 4967412"/>
                <a:gd name="connsiteY1" fmla="*/ 0 h 6735293"/>
                <a:gd name="connsiteX2" fmla="*/ 4555063 w 4967412"/>
                <a:gd name="connsiteY2" fmla="*/ 128938 h 6735293"/>
                <a:gd name="connsiteX3" fmla="*/ 101259 w 4967412"/>
                <a:gd name="connsiteY3" fmla="*/ 6262544 h 6735293"/>
                <a:gd name="connsiteX4" fmla="*/ 47842 w 4967412"/>
                <a:gd name="connsiteY4" fmla="*/ 6727073 h 6735293"/>
                <a:gd name="connsiteX5" fmla="*/ 0 w 4967412"/>
                <a:gd name="connsiteY5" fmla="*/ 6735293 h 673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7412" h="6735293">
                  <a:moveTo>
                    <a:pt x="0" y="0"/>
                  </a:moveTo>
                  <a:lnTo>
                    <a:pt x="4967412" y="0"/>
                  </a:lnTo>
                  <a:lnTo>
                    <a:pt x="4555063" y="128938"/>
                  </a:lnTo>
                  <a:cubicBezTo>
                    <a:pt x="2271342" y="992714"/>
                    <a:pt x="528975" y="3350710"/>
                    <a:pt x="101259" y="6262544"/>
                  </a:cubicBezTo>
                  <a:lnTo>
                    <a:pt x="47842" y="6727073"/>
                  </a:lnTo>
                  <a:lnTo>
                    <a:pt x="0" y="6735293"/>
                  </a:lnTo>
                  <a:close/>
                </a:path>
              </a:pathLst>
            </a:custGeom>
            <a:solidFill>
              <a:srgbClr val="BE1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21"/>
            <p:cNvSpPr/>
            <p:nvPr/>
          </p:nvSpPr>
          <p:spPr>
            <a:xfrm>
              <a:off x="0" y="0"/>
              <a:ext cx="6116470" cy="6858000"/>
            </a:xfrm>
            <a:custGeom>
              <a:avLst/>
              <a:gdLst>
                <a:gd name="connsiteX0" fmla="*/ 0 w 6116470"/>
                <a:gd name="connsiteY0" fmla="*/ 0 h 6858000"/>
                <a:gd name="connsiteX1" fmla="*/ 6116470 w 6116470"/>
                <a:gd name="connsiteY1" fmla="*/ 0 h 6858000"/>
                <a:gd name="connsiteX2" fmla="*/ 5608736 w 6116470"/>
                <a:gd name="connsiteY2" fmla="*/ 130556 h 6858000"/>
                <a:gd name="connsiteX3" fmla="*/ 77448 w 6116470"/>
                <a:gd name="connsiteY3" fmla="*/ 6637800 h 6858000"/>
                <a:gd name="connsiteX4" fmla="*/ 50872 w 6116470"/>
                <a:gd name="connsiteY4" fmla="*/ 6858000 h 6858000"/>
                <a:gd name="connsiteX5" fmla="*/ 0 w 6116470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16470" h="6858000">
                  <a:moveTo>
                    <a:pt x="0" y="0"/>
                  </a:moveTo>
                  <a:lnTo>
                    <a:pt x="6116470" y="0"/>
                  </a:lnTo>
                  <a:lnTo>
                    <a:pt x="5608736" y="130556"/>
                  </a:lnTo>
                  <a:cubicBezTo>
                    <a:pt x="2703014" y="1034325"/>
                    <a:pt x="509051" y="3553609"/>
                    <a:pt x="77448" y="6637800"/>
                  </a:cubicBezTo>
                  <a:lnTo>
                    <a:pt x="508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03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640" y="261620"/>
            <a:ext cx="5422265" cy="7207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162552" tIns="81276" rIns="162552" bIns="81276">
            <a:spAutoFit/>
          </a:bodyPr>
          <a:lstStyle/>
          <a:p>
            <a:pPr lvl="0" defTabSz="1219200">
              <a:lnSpc>
                <a:spcPct val="130000"/>
              </a:lnSpc>
              <a:defRPr/>
            </a:pPr>
            <a:r>
              <a:rPr lang="zh-CN" altLang="en-US" sz="2800" b="1" kern="0" spc="533" dirty="0">
                <a:solidFill>
                  <a:srgbClr val="BE1A30"/>
                </a:solidFill>
                <a:cs typeface="+mn-ea"/>
                <a:sym typeface="+mn-lt"/>
              </a:rPr>
              <a:t>预期成果与创新点</a:t>
            </a:r>
            <a:endParaRPr lang="zh-CN" altLang="en-US" sz="2800" b="1" kern="0" spc="533" dirty="0">
              <a:solidFill>
                <a:srgbClr val="BE1A30"/>
              </a:solidFill>
              <a:cs typeface="+mn-ea"/>
              <a:sym typeface="+mn-lt"/>
            </a:endParaRPr>
          </a:p>
        </p:txBody>
      </p:sp>
      <p:sp>
        <p:nvSpPr>
          <p:cNvPr id="34" name="矩形: 圆角 24"/>
          <p:cNvSpPr/>
          <p:nvPr/>
        </p:nvSpPr>
        <p:spPr>
          <a:xfrm>
            <a:off x="670767" y="4508323"/>
            <a:ext cx="10850466" cy="1474188"/>
          </a:xfrm>
          <a:prstGeom prst="roundRect">
            <a:avLst>
              <a:gd name="adj" fmla="val 68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833632" y="4697670"/>
            <a:ext cx="1124348" cy="1095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预期成果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28825" y="4691380"/>
            <a:ext cx="9398000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000" i="0" dirty="0">
                <a:latin typeface="黑体" panose="02010609060101010101" charset="-122"/>
                <a:ea typeface="黑体" panose="02010609060101010101" charset="-122"/>
              </a:rPr>
              <a:t>一项经过严格验证的慢性病综合风险预测模型及原型系统：基于</a:t>
            </a:r>
            <a:r>
              <a:rPr lang="en-US" altLang="zh-CN" sz="2000" i="0" dirty="0">
                <a:latin typeface="黑体" panose="02010609060101010101" charset="-122"/>
                <a:ea typeface="黑体" panose="02010609060101010101" charset="-122"/>
              </a:rPr>
              <a:t>GLM7</a:t>
            </a:r>
            <a:r>
              <a:rPr lang="zh-CN" altLang="en-US" sz="2000" i="0" dirty="0">
                <a:latin typeface="黑体" panose="02010609060101010101" charset="-122"/>
                <a:ea typeface="黑体" panose="02010609060101010101" charset="-122"/>
              </a:rPr>
              <a:t>与</a:t>
            </a:r>
            <a:r>
              <a:rPr lang="en-US" altLang="zh-CN" sz="2000" i="0" dirty="0">
                <a:latin typeface="黑体" panose="02010609060101010101" charset="-122"/>
                <a:ea typeface="黑体" panose="02010609060101010101" charset="-122"/>
              </a:rPr>
              <a:t>XGBoost</a:t>
            </a:r>
            <a:r>
              <a:rPr lang="zh-CN" altLang="en-US" sz="2000" i="0" dirty="0">
                <a:latin typeface="黑体" panose="02010609060101010101" charset="-122"/>
                <a:ea typeface="黑体" panose="02010609060101010101" charset="-122"/>
              </a:rPr>
              <a:t>算法构建，提供可在中美人群中应用的筛查工具原型，并配套完整的可复用代码库与数据报告。</a:t>
            </a:r>
            <a:endParaRPr lang="zh-CN" altLang="en-US" sz="2000" i="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" name="矩形: 圆角 5"/>
          <p:cNvSpPr/>
          <p:nvPr/>
        </p:nvSpPr>
        <p:spPr>
          <a:xfrm>
            <a:off x="668434" y="1183717"/>
            <a:ext cx="10850466" cy="2931083"/>
          </a:xfrm>
          <a:prstGeom prst="roundRect">
            <a:avLst>
              <a:gd name="adj" fmla="val 68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1018814" y="1762116"/>
            <a:ext cx="488790" cy="1634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创新点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41" name="标题 1"/>
          <p:cNvCxnSpPr/>
          <p:nvPr/>
        </p:nvCxnSpPr>
        <p:spPr>
          <a:xfrm>
            <a:off x="1857983" y="1462843"/>
            <a:ext cx="0" cy="242115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cxnSp>
        <p:nvCxnSpPr>
          <p:cNvPr id="45" name="标题 1"/>
          <p:cNvCxnSpPr/>
          <p:nvPr/>
        </p:nvCxnSpPr>
        <p:spPr>
          <a:xfrm>
            <a:off x="1857983" y="4737370"/>
            <a:ext cx="0" cy="1128409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sp>
        <p:nvSpPr>
          <p:cNvPr id="48" name="文本框 47"/>
          <p:cNvSpPr txBox="1"/>
          <p:nvPr/>
        </p:nvSpPr>
        <p:spPr>
          <a:xfrm>
            <a:off x="2105240" y="1478712"/>
            <a:ext cx="9067946" cy="2784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000" i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·</a:t>
            </a:r>
            <a:r>
              <a:rPr lang="zh-CN" altLang="en-US" sz="2000" b="1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视角创新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：从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“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单病种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”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预测转向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“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多病共病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”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综合风险评估，契合慢性病流行现状，提升公共卫生实践价值。</a:t>
            </a:r>
            <a:endParaRPr lang="zh-CN" altLang="en-US" sz="2000" b="0" i="0" dirty="0">
              <a:solidFill>
                <a:srgbClr val="404040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i="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·</a:t>
            </a:r>
            <a:r>
              <a:rPr lang="zh-CN" altLang="en-US" sz="2000" b="1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方法创新：</a:t>
            </a:r>
            <a:r>
              <a:rPr lang="zh-CN" altLang="en-US" sz="200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构建了</a:t>
            </a:r>
            <a:r>
              <a:rPr lang="en-US" altLang="zh-CN" sz="200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GLM7</a:t>
            </a:r>
            <a:r>
              <a:rPr lang="zh-CN" altLang="en-US" sz="200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指标的跨队列验证框架，完成了多种机器学习算法的系统对比与优化，从而建立了预测性能更优的综合风险模型</a:t>
            </a:r>
            <a:endParaRPr lang="zh-CN" altLang="en-US" sz="2000" i="0" dirty="0">
              <a:solidFill>
                <a:srgbClr val="404040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b="1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  <a:sym typeface="+mn-ea"/>
              </a:rPr>
              <a:t>·</a:t>
            </a:r>
            <a:r>
              <a:rPr lang="zh-CN" altLang="en-US" sz="2000" b="1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路径创新：</a:t>
            </a:r>
            <a:r>
              <a:rPr lang="zh-CN" altLang="en-US" sz="2000" i="0" dirty="0">
                <a:solidFill>
                  <a:srgbClr val="40404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将前沿指标与轻量级机器学习工具结合，构建基于常规指标、简便高效的风险筛查系统，支撑基层主动健康管理。</a:t>
            </a:r>
            <a:endParaRPr lang="zh-CN" altLang="en-US" sz="2000" i="0" dirty="0">
              <a:solidFill>
                <a:srgbClr val="404040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  <a:p>
            <a:pPr algn="just">
              <a:lnSpc>
                <a:spcPct val="125000"/>
              </a:lnSpc>
            </a:pPr>
            <a:endParaRPr lang="zh-CN" altLang="en-US" sz="2000" i="0" dirty="0">
              <a:solidFill>
                <a:srgbClr val="404040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/>
          <p:cNvSpPr/>
          <p:nvPr/>
        </p:nvSpPr>
        <p:spPr>
          <a:xfrm>
            <a:off x="4688114" y="2637063"/>
            <a:ext cx="7503886" cy="4220937"/>
          </a:xfrm>
          <a:custGeom>
            <a:avLst/>
            <a:gdLst>
              <a:gd name="connsiteX0" fmla="*/ 6096000 w 6096000"/>
              <a:gd name="connsiteY0" fmla="*/ 0 h 3429001"/>
              <a:gd name="connsiteX1" fmla="*/ 6096000 w 6096000"/>
              <a:gd name="connsiteY1" fmla="*/ 3429001 h 3429001"/>
              <a:gd name="connsiteX2" fmla="*/ 0 w 6096000"/>
              <a:gd name="connsiteY2" fmla="*/ 3429001 h 3429001"/>
              <a:gd name="connsiteX3" fmla="*/ 0 w 6096000"/>
              <a:gd name="connsiteY3" fmla="*/ 3429000 h 3429001"/>
              <a:gd name="connsiteX4" fmla="*/ 2667000 w 6096000"/>
              <a:gd name="connsiteY4" fmla="*/ 3429000 h 3429001"/>
              <a:gd name="connsiteX5" fmla="*/ 6096000 w 6096000"/>
              <a:gd name="connsiteY5" fmla="*/ 0 h 34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3429001">
                <a:moveTo>
                  <a:pt x="6096000" y="0"/>
                </a:moveTo>
                <a:lnTo>
                  <a:pt x="6096000" y="3429001"/>
                </a:lnTo>
                <a:lnTo>
                  <a:pt x="0" y="3429001"/>
                </a:lnTo>
                <a:lnTo>
                  <a:pt x="0" y="3429000"/>
                </a:lnTo>
                <a:lnTo>
                  <a:pt x="2667000" y="3429000"/>
                </a:lnTo>
                <a:cubicBezTo>
                  <a:pt x="4560784" y="3429000"/>
                  <a:pt x="6096000" y="1893784"/>
                  <a:pt x="6096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-1" y="0"/>
            <a:ext cx="7982857" cy="8980714"/>
          </a:xfrm>
          <a:custGeom>
            <a:avLst/>
            <a:gdLst>
              <a:gd name="connsiteX0" fmla="*/ 0 w 6096000"/>
              <a:gd name="connsiteY0" fmla="*/ 6857999 h 6858000"/>
              <a:gd name="connsiteX1" fmla="*/ 6096000 w 6096000"/>
              <a:gd name="connsiteY1" fmla="*/ 6857999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5" fmla="*/ 3428959 w 6096000"/>
              <a:gd name="connsiteY5" fmla="*/ 0 h 6858000"/>
              <a:gd name="connsiteX6" fmla="*/ 3252544 w 6096000"/>
              <a:gd name="connsiteY6" fmla="*/ 4461 h 6858000"/>
              <a:gd name="connsiteX7" fmla="*/ 17703 w 6096000"/>
              <a:gd name="connsiteY7" fmla="*/ 3078404 h 6858000"/>
              <a:gd name="connsiteX8" fmla="*/ 0 w 6096000"/>
              <a:gd name="connsiteY8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6857999"/>
                </a:moveTo>
                <a:lnTo>
                  <a:pt x="6096000" y="6857999"/>
                </a:lnTo>
                <a:lnTo>
                  <a:pt x="6096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0" y="1"/>
            <a:ext cx="12192000" cy="6858000"/>
          </a:xfrm>
          <a:custGeom>
            <a:avLst/>
            <a:gdLst>
              <a:gd name="connsiteX0" fmla="*/ 12192000 w 12192000"/>
              <a:gd name="connsiteY0" fmla="*/ 3428999 h 6858000"/>
              <a:gd name="connsiteX1" fmla="*/ 12192000 w 12192000"/>
              <a:gd name="connsiteY1" fmla="*/ 6858000 h 6858000"/>
              <a:gd name="connsiteX2" fmla="*/ 0 w 12192000"/>
              <a:gd name="connsiteY2" fmla="*/ 6858000 h 6858000"/>
              <a:gd name="connsiteX3" fmla="*/ 0 w 12192000"/>
              <a:gd name="connsiteY3" fmla="*/ 6857999 h 6858000"/>
              <a:gd name="connsiteX4" fmla="*/ 8763000 w 12192000"/>
              <a:gd name="connsiteY4" fmla="*/ 6857999 h 6858000"/>
              <a:gd name="connsiteX5" fmla="*/ 12192000 w 12192000"/>
              <a:gd name="connsiteY5" fmla="*/ 3428999 h 6858000"/>
              <a:gd name="connsiteX6" fmla="*/ 0 w 12192000"/>
              <a:gd name="connsiteY6" fmla="*/ 0 h 6858000"/>
              <a:gd name="connsiteX7" fmla="*/ 3428959 w 12192000"/>
              <a:gd name="connsiteY7" fmla="*/ 0 h 6858000"/>
              <a:gd name="connsiteX8" fmla="*/ 3252544 w 12192000"/>
              <a:gd name="connsiteY8" fmla="*/ 4461 h 6858000"/>
              <a:gd name="connsiteX9" fmla="*/ 17703 w 12192000"/>
              <a:gd name="connsiteY9" fmla="*/ 3078404 h 6858000"/>
              <a:gd name="connsiteX10" fmla="*/ 0 w 12192000"/>
              <a:gd name="connsiteY10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12192000" y="3428999"/>
                </a:moveTo>
                <a:lnTo>
                  <a:pt x="12192000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8763000" y="6857999"/>
                </a:lnTo>
                <a:cubicBezTo>
                  <a:pt x="10656784" y="6857999"/>
                  <a:pt x="12192000" y="5322783"/>
                  <a:pt x="12192000" y="3428999"/>
                </a:cubicBez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rgbClr val="BE1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" y="1"/>
            <a:ext cx="2903620" cy="3266572"/>
          </a:xfrm>
          <a:custGeom>
            <a:avLst/>
            <a:gdLst>
              <a:gd name="connsiteX0" fmla="*/ 0 w 6096000"/>
              <a:gd name="connsiteY0" fmla="*/ 6857999 h 6858000"/>
              <a:gd name="connsiteX1" fmla="*/ 6096000 w 6096000"/>
              <a:gd name="connsiteY1" fmla="*/ 6857999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5" fmla="*/ 3428959 w 6096000"/>
              <a:gd name="connsiteY5" fmla="*/ 0 h 6858000"/>
              <a:gd name="connsiteX6" fmla="*/ 3252544 w 6096000"/>
              <a:gd name="connsiteY6" fmla="*/ 4461 h 6858000"/>
              <a:gd name="connsiteX7" fmla="*/ 17703 w 6096000"/>
              <a:gd name="connsiteY7" fmla="*/ 3078404 h 6858000"/>
              <a:gd name="connsiteX8" fmla="*/ 0 w 6096000"/>
              <a:gd name="connsiteY8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6857999"/>
                </a:moveTo>
                <a:lnTo>
                  <a:pt x="6096000" y="6857999"/>
                </a:lnTo>
                <a:lnTo>
                  <a:pt x="6096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rgbClr val="303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任意多边形: 形状 20"/>
          <p:cNvSpPr/>
          <p:nvPr/>
        </p:nvSpPr>
        <p:spPr>
          <a:xfrm rot="5400000" flipH="1">
            <a:off x="9222427" y="3888427"/>
            <a:ext cx="2794892" cy="3144253"/>
          </a:xfrm>
          <a:custGeom>
            <a:avLst/>
            <a:gdLst>
              <a:gd name="connsiteX0" fmla="*/ 0 w 6096000"/>
              <a:gd name="connsiteY0" fmla="*/ 6857999 h 6858000"/>
              <a:gd name="connsiteX1" fmla="*/ 6096000 w 6096000"/>
              <a:gd name="connsiteY1" fmla="*/ 6857999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5" fmla="*/ 3428959 w 6096000"/>
              <a:gd name="connsiteY5" fmla="*/ 0 h 6858000"/>
              <a:gd name="connsiteX6" fmla="*/ 3252544 w 6096000"/>
              <a:gd name="connsiteY6" fmla="*/ 4461 h 6858000"/>
              <a:gd name="connsiteX7" fmla="*/ 17703 w 6096000"/>
              <a:gd name="connsiteY7" fmla="*/ 3078404 h 6858000"/>
              <a:gd name="connsiteX8" fmla="*/ 0 w 6096000"/>
              <a:gd name="connsiteY8" fmla="*/ 3428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6857999"/>
                </a:moveTo>
                <a:lnTo>
                  <a:pt x="6096000" y="6857999"/>
                </a:lnTo>
                <a:lnTo>
                  <a:pt x="6096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428959" y="0"/>
                </a:lnTo>
                <a:lnTo>
                  <a:pt x="3252544" y="4461"/>
                </a:lnTo>
                <a:cubicBezTo>
                  <a:pt x="1557652" y="90375"/>
                  <a:pt x="187448" y="1406947"/>
                  <a:pt x="17703" y="3078404"/>
                </a:cubicBezTo>
                <a:lnTo>
                  <a:pt x="0" y="3428978"/>
                </a:lnTo>
                <a:close/>
              </a:path>
            </a:pathLst>
          </a:custGeom>
          <a:solidFill>
            <a:srgbClr val="282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532200" y="-695992"/>
            <a:ext cx="1785325" cy="541247"/>
            <a:chOff x="5532200" y="-695992"/>
            <a:chExt cx="1785325" cy="541247"/>
          </a:xfrm>
        </p:grpSpPr>
        <p:grpSp>
          <p:nvGrpSpPr>
            <p:cNvPr id="6" name="组合 5"/>
            <p:cNvGrpSpPr/>
            <p:nvPr/>
          </p:nvGrpSpPr>
          <p:grpSpPr>
            <a:xfrm>
              <a:off x="5532200" y="-695992"/>
              <a:ext cx="1127599" cy="541247"/>
              <a:chOff x="6141343" y="952029"/>
              <a:chExt cx="1800200" cy="864096"/>
            </a:xfrm>
          </p:grpSpPr>
          <p:sp>
            <p:nvSpPr>
              <p:cNvPr id="7" name="椭圆 6"/>
              <p:cNvSpPr/>
              <p:nvPr/>
            </p:nvSpPr>
            <p:spPr bwMode="auto">
              <a:xfrm>
                <a:off x="6141343" y="952029"/>
                <a:ext cx="864096" cy="864096"/>
              </a:xfrm>
              <a:prstGeom prst="ellipse">
                <a:avLst/>
              </a:prstGeom>
              <a:solidFill>
                <a:srgbClr val="BE1A30"/>
              </a:solidFill>
              <a:ln w="0">
                <a:noFill/>
                <a:prstDash val="solid"/>
                <a:miter lim="800000"/>
              </a:ln>
            </p:spPr>
            <p:txBody>
              <a:bodyPr vert="horz" wrap="square" lIns="128580" tIns="64290" rIns="128580" bIns="64290" numCol="1" rtlCol="0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 bwMode="auto">
              <a:xfrm>
                <a:off x="7077447" y="952029"/>
                <a:ext cx="864096" cy="864096"/>
              </a:xfrm>
              <a:prstGeom prst="ellipse">
                <a:avLst/>
              </a:prstGeom>
              <a:solidFill>
                <a:srgbClr val="303B4B"/>
              </a:solidFill>
              <a:ln w="0">
                <a:noFill/>
                <a:prstDash val="solid"/>
                <a:miter lim="800000"/>
              </a:ln>
            </p:spPr>
            <p:txBody>
              <a:bodyPr vert="horz" wrap="square" lIns="128580" tIns="64290" rIns="128580" bIns="64290" numCol="1" rtlCol="0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3" name="椭圆 22"/>
            <p:cNvSpPr/>
            <p:nvPr/>
          </p:nvSpPr>
          <p:spPr bwMode="auto">
            <a:xfrm>
              <a:off x="6776277" y="-695992"/>
              <a:ext cx="541248" cy="541247"/>
            </a:xfrm>
            <a:prstGeom prst="ellipse">
              <a:avLst/>
            </a:prstGeom>
            <a:solidFill>
              <a:srgbClr val="7F7F7F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34" name="图片 33" descr="徽标&#10;&#10;描述已自动生成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4" t="19931" r="20018" b="20630"/>
          <a:stretch>
            <a:fillRect/>
          </a:stretch>
        </p:blipFill>
        <p:spPr>
          <a:xfrm>
            <a:off x="0" y="3796031"/>
            <a:ext cx="3080085" cy="2941654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11212396" y="272447"/>
            <a:ext cx="600644" cy="530928"/>
            <a:chOff x="11171589" y="282905"/>
            <a:chExt cx="600644" cy="530928"/>
          </a:xfrm>
          <a:gradFill>
            <a:gsLst>
              <a:gs pos="0">
                <a:srgbClr val="BE1A30"/>
              </a:gs>
              <a:gs pos="100000">
                <a:srgbClr val="BE1A30">
                  <a:alpha val="40000"/>
                </a:srgbClr>
              </a:gs>
            </a:gsLst>
            <a:lin ang="0" scaled="0"/>
          </a:gradFill>
        </p:grpSpPr>
        <p:grpSp>
          <p:nvGrpSpPr>
            <p:cNvPr id="36" name="组合 35"/>
            <p:cNvGrpSpPr/>
            <p:nvPr/>
          </p:nvGrpSpPr>
          <p:grpSpPr>
            <a:xfrm rot="10800000">
              <a:off x="11651277" y="282905"/>
              <a:ext cx="120956" cy="530928"/>
              <a:chOff x="594567" y="418398"/>
              <a:chExt cx="174172" cy="764517"/>
            </a:xfrm>
            <a:grpFill/>
          </p:grpSpPr>
          <p:sp>
            <p:nvSpPr>
              <p:cNvPr id="45" name="椭圆 44"/>
              <p:cNvSpPr/>
              <p:nvPr/>
            </p:nvSpPr>
            <p:spPr>
              <a:xfrm>
                <a:off x="594567" y="418398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594567" y="716031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94567" y="1008743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 rot="10800000">
              <a:off x="11411433" y="282905"/>
              <a:ext cx="120956" cy="530928"/>
              <a:chOff x="594567" y="418398"/>
              <a:chExt cx="174172" cy="764517"/>
            </a:xfrm>
            <a:grpFill/>
          </p:grpSpPr>
          <p:sp>
            <p:nvSpPr>
              <p:cNvPr id="42" name="椭圆 41"/>
              <p:cNvSpPr/>
              <p:nvPr/>
            </p:nvSpPr>
            <p:spPr>
              <a:xfrm>
                <a:off x="594567" y="418398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594567" y="716031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94567" y="1008743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 rot="10800000">
              <a:off x="11171589" y="282905"/>
              <a:ext cx="120956" cy="530928"/>
              <a:chOff x="594567" y="418398"/>
              <a:chExt cx="174172" cy="764517"/>
            </a:xfrm>
            <a:grpFill/>
          </p:grpSpPr>
          <p:sp>
            <p:nvSpPr>
              <p:cNvPr id="39" name="椭圆 38"/>
              <p:cNvSpPr/>
              <p:nvPr/>
            </p:nvSpPr>
            <p:spPr>
              <a:xfrm>
                <a:off x="594567" y="418398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594567" y="716031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594567" y="1008743"/>
                <a:ext cx="174172" cy="17417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/>
          <p:cNvSpPr txBox="1"/>
          <p:nvPr/>
        </p:nvSpPr>
        <p:spPr>
          <a:xfrm>
            <a:off x="1881505" y="2219960"/>
            <a:ext cx="9016365" cy="13220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8000" b="1">
                <a:solidFill>
                  <a:srgbClr val="BE1A30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感谢指导</a:t>
            </a:r>
            <a:endParaRPr lang="zh-CN" altLang="en-US" dirty="0">
              <a:sym typeface="+mn-lt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3900250" y="4418140"/>
            <a:ext cx="214859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cs typeface="+mn-ea"/>
                <a:sym typeface="+mn-lt"/>
              </a:rPr>
              <a:t>答辩人：</a:t>
            </a:r>
            <a:r>
              <a:rPr kumimoji="0" 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cs typeface="+mn-ea"/>
                <a:sym typeface="+mn-lt"/>
              </a:rPr>
              <a:t>陈佳豪</a:t>
            </a:r>
            <a:endParaRPr kumimoji="0" lang="zh-CN" sz="1800" b="1" i="0" u="none" strike="noStrike" kern="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6516180" y="4418140"/>
            <a:ext cx="187200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cs typeface="+mn-ea"/>
                <a:sym typeface="+mn-lt"/>
              </a:rPr>
              <a:t>导师：朱天生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矩形: 圆角 55"/>
          <p:cNvSpPr/>
          <p:nvPr/>
        </p:nvSpPr>
        <p:spPr>
          <a:xfrm>
            <a:off x="3899458" y="4418140"/>
            <a:ext cx="217399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答辩人：</a:t>
            </a:r>
            <a:r>
              <a:rPr lang="zh-CN" b="1" kern="0" dirty="0">
                <a:solidFill>
                  <a:srgbClr val="E6E6E6"/>
                </a:solidFill>
                <a:cs typeface="+mn-ea"/>
                <a:sym typeface="+mn-lt"/>
              </a:rPr>
              <a:t>陈佳豪</a:t>
            </a:r>
            <a:endParaRPr lang="zh-CN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sp>
        <p:nvSpPr>
          <p:cNvPr id="3" name="矩形: 圆角 56"/>
          <p:cNvSpPr/>
          <p:nvPr/>
        </p:nvSpPr>
        <p:spPr>
          <a:xfrm>
            <a:off x="6563648" y="4418140"/>
            <a:ext cx="1872000" cy="468000"/>
          </a:xfrm>
          <a:prstGeom prst="roundRect">
            <a:avLst>
              <a:gd name="adj" fmla="val 50000"/>
            </a:avLst>
          </a:prstGeom>
          <a:solidFill>
            <a:srgbClr val="303B4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rgbClr val="E6E6E6"/>
                </a:solidFill>
                <a:cs typeface="+mn-ea"/>
                <a:sym typeface="+mn-lt"/>
              </a:rPr>
              <a:t>导师：朱天生</a:t>
            </a:r>
            <a:endParaRPr lang="zh-CN" altLang="en-US" b="1" kern="0" dirty="0">
              <a:solidFill>
                <a:srgbClr val="E6E6E6"/>
              </a:solidFill>
              <a:cs typeface="+mn-ea"/>
              <a:sym typeface="+mn-lt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5456810" y="3714212"/>
            <a:ext cx="1629390" cy="531756"/>
            <a:chOff x="4881789" y="4853306"/>
            <a:chExt cx="2286178" cy="550882"/>
          </a:xfrm>
        </p:grpSpPr>
        <p:sp>
          <p:nvSpPr>
            <p:cNvPr id="51" name="矩形: 圆角 50"/>
            <p:cNvSpPr/>
            <p:nvPr/>
          </p:nvSpPr>
          <p:spPr>
            <a:xfrm>
              <a:off x="4881789" y="4853306"/>
              <a:ext cx="2286178" cy="550882"/>
            </a:xfrm>
            <a:prstGeom prst="roundRect">
              <a:avLst>
                <a:gd name="adj" fmla="val 50000"/>
              </a:avLst>
            </a:prstGeom>
            <a:solidFill>
              <a:srgbClr val="BE1A3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tx1">
                  <a:lumMod val="85000"/>
                  <a:lumOff val="15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" name="iṩļïḓè"/>
            <p:cNvSpPr txBox="1"/>
            <p:nvPr/>
          </p:nvSpPr>
          <p:spPr bwMode="auto">
            <a:xfrm>
              <a:off x="4941766" y="4959054"/>
              <a:ext cx="2166224" cy="339386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bg1"/>
                  </a:solidFill>
                  <a:cs typeface="+mn-ea"/>
                  <a:sym typeface="+mn-lt"/>
                </a:rPr>
                <a:t>2026-1-11</a:t>
              </a:r>
              <a:endParaRPr lang="en-US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 bldLvl="0" animBg="1"/>
      <p:bldP spid="57" grpId="0" bldLvl="0" animBg="1"/>
      <p:bldP spid="2" grpId="0" bldLvl="0" animBg="1"/>
      <p:bldP spid="3" grpId="0" bldLvl="0" animBg="1"/>
    </p:bldLst>
  </p:timing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slide_a81418525f254632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12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13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14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15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16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17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18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19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20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21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22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23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24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25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26.xml><?xml version="1.0" encoding="utf-8"?>
<p:tagLst xmlns:p="http://schemas.openxmlformats.org/presentationml/2006/main">
  <p:tag name="KSO_WM_DIAGRAM_VIRTUALLY_FRAME" val="{&quot;height&quot;:192.5492125984252,&quot;left&quot;:243.64448818897637,&quot;top&quot;:203.90165354330708,&quot;width&quot;:665.854094488189}"/>
</p:tagLst>
</file>

<file path=ppt/tags/tag27.xml><?xml version="1.0" encoding="utf-8"?>
<p:tagLst xmlns:p="http://schemas.openxmlformats.org/presentationml/2006/main">
  <p:tag name="KSO_WM_DIAGRAM_VIRTUALLY_FRAME" val="{&quot;height&quot;:416.3704724409448,&quot;left&quot;:46.8451968503937,&quot;top&quot;:79.3551968503937,&quot;width&quot;:865.3095275590549}"/>
</p:tagLst>
</file>

<file path=ppt/tags/tag28.xml><?xml version="1.0" encoding="utf-8"?>
<p:tagLst xmlns:p="http://schemas.openxmlformats.org/presentationml/2006/main">
  <p:tag name="KSO_WM_DIAGRAM_VIRTUALLY_FRAME" val="{&quot;height&quot;:416.3704724409448,&quot;left&quot;:46.8451968503937,&quot;top&quot;:79.3551968503937,&quot;width&quot;:865.3095275590549}"/>
</p:tagLst>
</file>

<file path=ppt/tags/tag29.xml><?xml version="1.0" encoding="utf-8"?>
<p:tagLst xmlns:p="http://schemas.openxmlformats.org/presentationml/2006/main">
  <p:tag name="KSO_WM_DIAGRAM_VIRTUALLY_FRAME" val="{&quot;height&quot;:295.18889763779526,&quot;left&quot;:58.246062992125985,&quot;top&quot;:143.29078740157482,&quot;width&quot;:844.528031496063}"/>
</p:tagLst>
</file>

<file path=ppt/tags/tag30.xml><?xml version="1.0" encoding="utf-8"?>
<p:tagLst xmlns:p="http://schemas.openxmlformats.org/presentationml/2006/main">
  <p:tag name="KSO_WM_DIAGRAM_VIRTUALLY_FRAME" val="{&quot;height&quot;:416.3704724409448,&quot;left&quot;:46.8451968503937,&quot;top&quot;:79.3551968503937,&quot;width&quot;:865.3095275590549}"/>
</p:tagLst>
</file>

<file path=ppt/tags/tag31.xml><?xml version="1.0" encoding="utf-8"?>
<p:tagLst xmlns:p="http://schemas.openxmlformats.org/presentationml/2006/main">
  <p:tag name="KSO_WM_DIAGRAM_VIRTUALLY_FRAME" val="{&quot;height&quot;:416.3704724409448,&quot;left&quot;:46.8451968503937,&quot;top&quot;:79.3551968503937,&quot;width&quot;:865.3095275590549}"/>
</p:tagLst>
</file>

<file path=ppt/tags/tag32.xml><?xml version="1.0" encoding="utf-8"?>
<p:tagLst xmlns:p="http://schemas.openxmlformats.org/presentationml/2006/main">
  <p:tag name="KSO_WM_DIAGRAM_VIRTUALLY_FRAME" val="{&quot;height&quot;:295.18889763779526,&quot;left&quot;:58.246062992125985,&quot;top&quot;:143.29078740157482,&quot;width&quot;:844.528031496063}"/>
</p:tagLst>
</file>

<file path=ppt/tags/tag33.xml><?xml version="1.0" encoding="utf-8"?>
<p:tagLst xmlns:p="http://schemas.openxmlformats.org/presentationml/2006/main">
  <p:tag name="KSO_WM_DIAGRAM_VIRTUALLY_FRAME" val="{&quot;height&quot;:416.3704724409448,&quot;left&quot;:46.8451968503937,&quot;top&quot;:79.3551968503937,&quot;width&quot;:865.3095275590549}"/>
</p:tagLst>
</file>

<file path=ppt/tags/tag34.xml><?xml version="1.0" encoding="utf-8"?>
<p:tagLst xmlns:p="http://schemas.openxmlformats.org/presentationml/2006/main">
  <p:tag name="KSO_WM_DIAGRAM_VIRTUALLY_FRAME" val="{&quot;height&quot;:416.3704724409448,&quot;left&quot;:46.8451968503937,&quot;top&quot;:79.3551968503937,&quot;width&quot;:865.3095275590549}"/>
</p:tagLst>
</file>

<file path=ppt/tags/tag35.xml><?xml version="1.0" encoding="utf-8"?>
<p:tagLst xmlns:p="http://schemas.openxmlformats.org/presentationml/2006/main">
  <p:tag name="KSO_WM_DIAGRAM_VIRTUALLY_FRAME" val="{&quot;height&quot;:295.18889763779526,&quot;left&quot;:58.246062992125985,&quot;top&quot;:143.29078740157482,&quot;width&quot;:844.528031496063}"/>
</p:tagLst>
</file>

<file path=ppt/tags/tag36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37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38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39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40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41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42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43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44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45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46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47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48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49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0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1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2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3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4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5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6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7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8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59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0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1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2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3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4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5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6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7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8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69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0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1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2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3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4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5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6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7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8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79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80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81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82.xml><?xml version="1.0" encoding="utf-8"?>
<p:tagLst xmlns:p="http://schemas.openxmlformats.org/presentationml/2006/main">
  <p:tag name="KSO_WM_DIAGRAM_VIRTUALLY_FRAME" val="{&quot;height&quot;:459.21409448818883,&quot;left&quot;:22.223622047244113,&quot;top&quot;:125.70409448818903,&quot;width&quot;:941.2090551181102}"/>
</p:tagLst>
</file>

<file path=ppt/tags/tag83.xml><?xml version="1.0" encoding="utf-8"?>
<p:tagLst xmlns:p="http://schemas.openxmlformats.org/presentationml/2006/main">
  <p:tag name="KSO_WM_DIAGRAM_VIRTUALLY_FRAME" val="{&quot;height&quot;:281.4015748031496,&quot;left&quot;:66.94732283464568,&quot;top&quot;:154.77629921259842,&quot;width&quot;:813.4737007874015}"/>
</p:tagLst>
</file>

<file path=ppt/tags/tag84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85.xml><?xml version="1.0" encoding="utf-8"?>
<p:tagLst xmlns:p="http://schemas.openxmlformats.org/presentationml/2006/main">
  <p:tag name="KSO_WM_DIAGRAM_VIRTUALLY_FRAME" val="{&quot;height&quot;:413,&quot;left&quot;:46.85,&quot;top&quot;:101.3,&quot;width&quot;:898.7}"/>
</p:tagLst>
</file>

<file path=ppt/tags/tag86.xml><?xml version="1.0" encoding="utf-8"?>
<p:tagLst xmlns:p="http://schemas.openxmlformats.org/presentationml/2006/main">
  <p:tag name="KSO_WM_DIAGRAM_VIRTUALLY_FRAME" val="{&quot;height&quot;:413,&quot;left&quot;:27.743937007874013,&quot;top&quot;:101.3,&quot;width&quot;:917.8060629921259}"/>
</p:tagLst>
</file>

<file path=ppt/tags/tag87.xml><?xml version="1.0" encoding="utf-8"?>
<p:tagLst xmlns:p="http://schemas.openxmlformats.org/presentationml/2006/main">
  <p:tag name="KSO_WM_DIAGRAM_VIRTUALLY_FRAME" val="{&quot;height&quot;:413,&quot;left&quot;:27.743937007874013,&quot;top&quot;:101.3,&quot;width&quot;:917.8060629921259}"/>
</p:tagLst>
</file>

<file path=ppt/tags/tag88.xml><?xml version="1.0" encoding="utf-8"?>
<p:tagLst xmlns:p="http://schemas.openxmlformats.org/presentationml/2006/main">
  <p:tag name="KSO_WM_DIAGRAM_VIRTUALLY_FRAME" val="{&quot;height&quot;:413,&quot;left&quot;:27.743937007874013,&quot;top&quot;:101.3,&quot;width&quot;:917.8060629921259}"/>
</p:tagLst>
</file>

<file path=ppt/tags/tag89.xml><?xml version="1.0" encoding="utf-8"?>
<p:tagLst xmlns:p="http://schemas.openxmlformats.org/presentationml/2006/main">
  <p:tag name="KSO_WM_DIAGRAM_VIRTUALLY_FRAME" val="{&quot;height&quot;:413,&quot;left&quot;:27.743937007874013,&quot;top&quot;:101.3,&quot;width&quot;:917.8060629921259}"/>
</p:tagLst>
</file>

<file path=ppt/tags/tag90.xml><?xml version="1.0" encoding="utf-8"?>
<p:tagLst xmlns:p="http://schemas.openxmlformats.org/presentationml/2006/main">
  <p:tag name="KSO_WM_DIAGRAM_VIRTUALLY_FRAME" val="{&quot;height&quot;:281.4015748031496,&quot;left&quot;:66.94732283464568,&quot;top&quot;:154.77629921259842,&quot;width&quot;:813.4737007874015}"/>
</p:tagLst>
</file>

<file path=ppt/tags/tag91.xml><?xml version="1.0" encoding="utf-8"?>
<p:tagLst xmlns:p="http://schemas.openxmlformats.org/presentationml/2006/main">
  <p:tag name="KSO_WM_DIAGRAM_VIRTUALLY_FRAME" val="{&quot;height&quot;:413,&quot;left&quot;:27.743937007874013,&quot;top&quot;:101.3,&quot;width&quot;:917.8060629921259}"/>
</p:tagLst>
</file>

<file path=ppt/tags/tag92.xml><?xml version="1.0" encoding="utf-8"?>
<p:tagLst xmlns:p="http://schemas.openxmlformats.org/presentationml/2006/main">
  <p:tag name="KSO_WM_DIAGRAM_VIRTUALLY_FRAME" val="{&quot;height&quot;:413,&quot;left&quot;:27.743937007874013,&quot;top&quot;:101.3,&quot;width&quot;:917.8060629921259}"/>
</p:tagLst>
</file>

<file path=ppt/tags/tag93.xml><?xml version="1.0" encoding="utf-8"?>
<p:tagLst xmlns:p="http://schemas.openxmlformats.org/presentationml/2006/main">
  <p:tag name="KSO_WM_DIAGRAM_VIRTUALLY_FRAME" val="{&quot;height&quot;:281.4015748031496,&quot;left&quot;:66.94732283464568,&quot;top&quot;:154.77629921259842,&quot;width&quot;:813.4737007874015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faef55z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faef55z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2186</Words>
  <Application>WPS 演示</Application>
  <PresentationFormat>宽屏</PresentationFormat>
  <Paragraphs>187</Paragraphs>
  <Slides>16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思源宋体 CN</vt:lpstr>
      <vt:lpstr>微软雅黑</vt:lpstr>
      <vt:lpstr>Calibri</vt:lpstr>
      <vt:lpstr>Arial</vt:lpstr>
      <vt:lpstr>Arial Unicode MS</vt:lpstr>
      <vt:lpstr>思源宋体 CN</vt:lpstr>
      <vt:lpstr>兰米宋体</vt:lpstr>
      <vt:lpstr>黑体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开题答辩</dc:title>
  <dc:creator>第一PPT</dc:creator>
  <cp:keywords>www.1ppt.com</cp:keywords>
  <dc:description>www.1ppt.com</dc:description>
  <cp:lastModifiedBy>WPS_1670203391</cp:lastModifiedBy>
  <cp:revision>76</cp:revision>
  <dcterms:created xsi:type="dcterms:W3CDTF">2021-01-20T19:07:00Z</dcterms:created>
  <dcterms:modified xsi:type="dcterms:W3CDTF">2026-01-10T09:53:29Z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26F23DFC618248BB9F54B3E064A02E9D_13</vt:lpwstr>
  </property>
  <property fmtid="{D5CDD505-2E9C-101B-9397-08002B2CF9AE}" pid="3" name="KSOProductBuildVer">
    <vt:lpwstr>2052-12.1.0.24657</vt:lpwstr>
  </property>
</Properties>
</file>